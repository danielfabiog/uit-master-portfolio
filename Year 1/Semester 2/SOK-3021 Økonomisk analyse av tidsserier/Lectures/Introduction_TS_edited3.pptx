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app0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openxmlformats.org/package/2006/relationships/metadata/extended-properties" Target="docProps/app0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2"/>
  </p:notesMasterIdLst>
  <p:sldIdLst>
    <p:sldId id="256" r:id="rId2"/>
    <p:sldId id="257" r:id="rId3"/>
    <p:sldId id="374" r:id="rId4"/>
    <p:sldId id="375" r:id="rId5"/>
    <p:sldId id="376" r:id="rId6"/>
    <p:sldId id="377" r:id="rId7"/>
    <p:sldId id="373" r:id="rId8"/>
    <p:sldId id="280" r:id="rId9"/>
    <p:sldId id="258" r:id="rId10"/>
    <p:sldId id="259" r:id="rId11"/>
    <p:sldId id="260" r:id="rId12"/>
    <p:sldId id="369" r:id="rId13"/>
    <p:sldId id="371" r:id="rId14"/>
    <p:sldId id="278" r:id="rId15"/>
    <p:sldId id="277" r:id="rId16"/>
    <p:sldId id="261" r:id="rId17"/>
    <p:sldId id="262" r:id="rId18"/>
    <p:sldId id="265" r:id="rId19"/>
    <p:sldId id="267" r:id="rId20"/>
    <p:sldId id="268" r:id="rId21"/>
    <p:sldId id="269" r:id="rId22"/>
    <p:sldId id="284" r:id="rId23"/>
    <p:sldId id="270" r:id="rId24"/>
    <p:sldId id="281" r:id="rId25"/>
    <p:sldId id="271" r:id="rId26"/>
    <p:sldId id="285" r:id="rId27"/>
    <p:sldId id="272" r:id="rId28"/>
    <p:sldId id="294" r:id="rId29"/>
    <p:sldId id="279" r:id="rId30"/>
    <p:sldId id="372" r:id="rId31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ACC11D8-86B3-4298-A211-621EFB43FC09}" v="16" dt="2026-01-07T08:35:22.95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3" autoAdjust="0"/>
    <p:restoredTop sz="94013" autoAdjust="0"/>
  </p:normalViewPr>
  <p:slideViewPr>
    <p:cSldViewPr snapToGrid="0" snapToObjects="1">
      <p:cViewPr varScale="1">
        <p:scale>
          <a:sx n="197" d="100"/>
          <a:sy n="197" d="100"/>
        </p:scale>
        <p:origin x="744" y="156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38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37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ejene Gizaw Kidane" userId="4edf2ab9-ce95-4dba-897e-19da78e2d93e" providerId="ADAL" clId="{933205FD-7603-48C6-BD54-06F16FA06644}"/>
    <pc:docChg chg="undo custSel addSld modSld">
      <pc:chgData name="Dejene Gizaw Kidane" userId="4edf2ab9-ce95-4dba-897e-19da78e2d93e" providerId="ADAL" clId="{933205FD-7603-48C6-BD54-06F16FA06644}" dt="2026-01-07T08:37:42.492" v="1303" actId="27636"/>
      <pc:docMkLst>
        <pc:docMk/>
      </pc:docMkLst>
      <pc:sldChg chg="addSp delSp modSp mod">
        <pc:chgData name="Dejene Gizaw Kidane" userId="4edf2ab9-ce95-4dba-897e-19da78e2d93e" providerId="ADAL" clId="{933205FD-7603-48C6-BD54-06F16FA06644}" dt="2026-01-07T08:23:11.904" v="1178" actId="20577"/>
        <pc:sldMkLst>
          <pc:docMk/>
          <pc:sldMk cId="0" sldId="257"/>
        </pc:sldMkLst>
        <pc:spChg chg="mod">
          <ac:chgData name="Dejene Gizaw Kidane" userId="4edf2ab9-ce95-4dba-897e-19da78e2d93e" providerId="ADAL" clId="{933205FD-7603-48C6-BD54-06F16FA06644}" dt="2026-01-07T08:23:11.904" v="1178" actId="20577"/>
          <ac:spMkLst>
            <pc:docMk/>
            <pc:sldMk cId="0" sldId="257"/>
            <ac:spMk id="2" creationId="{00000000-0000-0000-0000-000000000000}"/>
          </ac:spMkLst>
        </pc:spChg>
        <pc:spChg chg="mod">
          <ac:chgData name="Dejene Gizaw Kidane" userId="4edf2ab9-ce95-4dba-897e-19da78e2d93e" providerId="ADAL" clId="{933205FD-7603-48C6-BD54-06F16FA06644}" dt="2026-01-07T08:04:11.982" v="64" actId="20577"/>
          <ac:spMkLst>
            <pc:docMk/>
            <pc:sldMk cId="0" sldId="257"/>
            <ac:spMk id="4" creationId="{00000000-0000-0000-0000-000000000000}"/>
          </ac:spMkLst>
        </pc:spChg>
        <pc:spChg chg="add del mod">
          <ac:chgData name="Dejene Gizaw Kidane" userId="4edf2ab9-ce95-4dba-897e-19da78e2d93e" providerId="ADAL" clId="{933205FD-7603-48C6-BD54-06F16FA06644}" dt="2026-01-07T08:04:16.133" v="66"/>
          <ac:spMkLst>
            <pc:docMk/>
            <pc:sldMk cId="0" sldId="257"/>
            <ac:spMk id="5" creationId="{B1C901A0-9B38-6D52-79C4-47027F745080}"/>
          </ac:spMkLst>
        </pc:spChg>
      </pc:sldChg>
      <pc:sldChg chg="modSp mod">
        <pc:chgData name="Dejene Gizaw Kidane" userId="4edf2ab9-ce95-4dba-897e-19da78e2d93e" providerId="ADAL" clId="{933205FD-7603-48C6-BD54-06F16FA06644}" dt="2026-01-07T08:35:51.014" v="1301" actId="207"/>
        <pc:sldMkLst>
          <pc:docMk/>
          <pc:sldMk cId="0" sldId="258"/>
        </pc:sldMkLst>
        <pc:spChg chg="mod">
          <ac:chgData name="Dejene Gizaw Kidane" userId="4edf2ab9-ce95-4dba-897e-19da78e2d93e" providerId="ADAL" clId="{933205FD-7603-48C6-BD54-06F16FA06644}" dt="2026-01-07T08:35:51.014" v="1301" actId="207"/>
          <ac:spMkLst>
            <pc:docMk/>
            <pc:sldMk cId="0" sldId="258"/>
            <ac:spMk id="4" creationId="{00000000-0000-0000-0000-000000000000}"/>
          </ac:spMkLst>
        </pc:spChg>
      </pc:sldChg>
      <pc:sldChg chg="modSp mod">
        <pc:chgData name="Dejene Gizaw Kidane" userId="4edf2ab9-ce95-4dba-897e-19da78e2d93e" providerId="ADAL" clId="{933205FD-7603-48C6-BD54-06F16FA06644}" dt="2026-01-07T08:37:42.492" v="1303" actId="27636"/>
        <pc:sldMkLst>
          <pc:docMk/>
          <pc:sldMk cId="1581237567" sldId="371"/>
        </pc:sldMkLst>
        <pc:spChg chg="mod">
          <ac:chgData name="Dejene Gizaw Kidane" userId="4edf2ab9-ce95-4dba-897e-19da78e2d93e" providerId="ADAL" clId="{933205FD-7603-48C6-BD54-06F16FA06644}" dt="2026-01-07T08:37:42.492" v="1303" actId="27636"/>
          <ac:spMkLst>
            <pc:docMk/>
            <pc:sldMk cId="1581237567" sldId="371"/>
            <ac:spMk id="3" creationId="{58553B75-F6A8-AE76-4E0A-A2B74BEA5E56}"/>
          </ac:spMkLst>
        </pc:spChg>
      </pc:sldChg>
      <pc:sldChg chg="add">
        <pc:chgData name="Dejene Gizaw Kidane" userId="4edf2ab9-ce95-4dba-897e-19da78e2d93e" providerId="ADAL" clId="{933205FD-7603-48C6-BD54-06F16FA06644}" dt="2026-01-07T07:59:42.082" v="0" actId="2890"/>
        <pc:sldMkLst>
          <pc:docMk/>
          <pc:sldMk cId="3494795515" sldId="373"/>
        </pc:sldMkLst>
      </pc:sldChg>
      <pc:sldChg chg="modSp add mod">
        <pc:chgData name="Dejene Gizaw Kidane" userId="4edf2ab9-ce95-4dba-897e-19da78e2d93e" providerId="ADAL" clId="{933205FD-7603-48C6-BD54-06F16FA06644}" dt="2026-01-07T08:32:09.339" v="1262" actId="20577"/>
        <pc:sldMkLst>
          <pc:docMk/>
          <pc:sldMk cId="751495974" sldId="374"/>
        </pc:sldMkLst>
        <pc:spChg chg="mod">
          <ac:chgData name="Dejene Gizaw Kidane" userId="4edf2ab9-ce95-4dba-897e-19da78e2d93e" providerId="ADAL" clId="{933205FD-7603-48C6-BD54-06F16FA06644}" dt="2026-01-07T08:23:17.512" v="1179" actId="20577"/>
          <ac:spMkLst>
            <pc:docMk/>
            <pc:sldMk cId="751495974" sldId="374"/>
            <ac:spMk id="2" creationId="{1889CE18-3B14-227E-AE3F-94BB852C2AF6}"/>
          </ac:spMkLst>
        </pc:spChg>
        <pc:spChg chg="mod">
          <ac:chgData name="Dejene Gizaw Kidane" userId="4edf2ab9-ce95-4dba-897e-19da78e2d93e" providerId="ADAL" clId="{933205FD-7603-48C6-BD54-06F16FA06644}" dt="2026-01-07T08:32:09.339" v="1262" actId="20577"/>
          <ac:spMkLst>
            <pc:docMk/>
            <pc:sldMk cId="751495974" sldId="374"/>
            <ac:spMk id="4" creationId="{C46E7CB5-DB7F-6FFD-38CC-ED1AA5CD636D}"/>
          </ac:spMkLst>
        </pc:spChg>
      </pc:sldChg>
      <pc:sldChg chg="modSp add mod">
        <pc:chgData name="Dejene Gizaw Kidane" userId="4edf2ab9-ce95-4dba-897e-19da78e2d93e" providerId="ADAL" clId="{933205FD-7603-48C6-BD54-06F16FA06644}" dt="2026-01-07T08:29:13.900" v="1229" actId="20577"/>
        <pc:sldMkLst>
          <pc:docMk/>
          <pc:sldMk cId="2500670601" sldId="375"/>
        </pc:sldMkLst>
        <pc:spChg chg="mod">
          <ac:chgData name="Dejene Gizaw Kidane" userId="4edf2ab9-ce95-4dba-897e-19da78e2d93e" providerId="ADAL" clId="{933205FD-7603-48C6-BD54-06F16FA06644}" dt="2026-01-07T08:19:14.028" v="1034" actId="14100"/>
          <ac:spMkLst>
            <pc:docMk/>
            <pc:sldMk cId="2500670601" sldId="375"/>
            <ac:spMk id="2" creationId="{C4639EDF-652E-0B99-0DE3-4888A3780F84}"/>
          </ac:spMkLst>
        </pc:spChg>
        <pc:spChg chg="mod">
          <ac:chgData name="Dejene Gizaw Kidane" userId="4edf2ab9-ce95-4dba-897e-19da78e2d93e" providerId="ADAL" clId="{933205FD-7603-48C6-BD54-06F16FA06644}" dt="2026-01-07T08:29:13.900" v="1229" actId="20577"/>
          <ac:spMkLst>
            <pc:docMk/>
            <pc:sldMk cId="2500670601" sldId="375"/>
            <ac:spMk id="4" creationId="{98CC89CA-7A35-D2E6-82B3-F0CC6ABDA079}"/>
          </ac:spMkLst>
        </pc:spChg>
      </pc:sldChg>
      <pc:sldChg chg="modSp add mod">
        <pc:chgData name="Dejene Gizaw Kidane" userId="4edf2ab9-ce95-4dba-897e-19da78e2d93e" providerId="ADAL" clId="{933205FD-7603-48C6-BD54-06F16FA06644}" dt="2026-01-07T08:33:15.756" v="1274" actId="6549"/>
        <pc:sldMkLst>
          <pc:docMk/>
          <pc:sldMk cId="3868158780" sldId="376"/>
        </pc:sldMkLst>
        <pc:spChg chg="mod">
          <ac:chgData name="Dejene Gizaw Kidane" userId="4edf2ab9-ce95-4dba-897e-19da78e2d93e" providerId="ADAL" clId="{933205FD-7603-48C6-BD54-06F16FA06644}" dt="2026-01-07T08:33:15.756" v="1274" actId="6549"/>
          <ac:spMkLst>
            <pc:docMk/>
            <pc:sldMk cId="3868158780" sldId="376"/>
            <ac:spMk id="4" creationId="{EB11AAA2-86E4-F77A-F965-7D09D49AFF7C}"/>
          </ac:spMkLst>
        </pc:spChg>
      </pc:sldChg>
      <pc:sldChg chg="delSp modSp new mod">
        <pc:chgData name="Dejene Gizaw Kidane" userId="4edf2ab9-ce95-4dba-897e-19da78e2d93e" providerId="ADAL" clId="{933205FD-7603-48C6-BD54-06F16FA06644}" dt="2026-01-07T08:30:33.239" v="1256" actId="1076"/>
        <pc:sldMkLst>
          <pc:docMk/>
          <pc:sldMk cId="2946690563" sldId="377"/>
        </pc:sldMkLst>
        <pc:spChg chg="del">
          <ac:chgData name="Dejene Gizaw Kidane" userId="4edf2ab9-ce95-4dba-897e-19da78e2d93e" providerId="ADAL" clId="{933205FD-7603-48C6-BD54-06F16FA06644}" dt="2026-01-07T08:30:03.233" v="1232" actId="21"/>
          <ac:spMkLst>
            <pc:docMk/>
            <pc:sldMk cId="2946690563" sldId="377"/>
            <ac:spMk id="2" creationId="{8F8AB0ED-D837-D4BA-3FCC-D470D8517792}"/>
          </ac:spMkLst>
        </pc:spChg>
        <pc:spChg chg="mod">
          <ac:chgData name="Dejene Gizaw Kidane" userId="4edf2ab9-ce95-4dba-897e-19da78e2d93e" providerId="ADAL" clId="{933205FD-7603-48C6-BD54-06F16FA06644}" dt="2026-01-07T08:30:33.239" v="1256" actId="1076"/>
          <ac:spMkLst>
            <pc:docMk/>
            <pc:sldMk cId="2946690563" sldId="377"/>
            <ac:spMk id="3" creationId="{B79E07DF-F828-B728-A39E-305A020C4FD9}"/>
          </ac:spMkLst>
        </pc:spChg>
        <pc:spChg chg="del">
          <ac:chgData name="Dejene Gizaw Kidane" userId="4edf2ab9-ce95-4dba-897e-19da78e2d93e" providerId="ADAL" clId="{933205FD-7603-48C6-BD54-06F16FA06644}" dt="2026-01-07T08:30:07.052" v="1233" actId="21"/>
          <ac:spMkLst>
            <pc:docMk/>
            <pc:sldMk cId="2946690563" sldId="377"/>
            <ac:spMk id="4" creationId="{9FE95938-C7D7-B7EF-100D-D23C2E58BCE3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2D9646F-D015-4EA0-AFF8-8310799A2DAE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D0A62AE-1217-41DC-9117-BC6778943F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33470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C8BEC2-0E82-4C94-B905-7DF29B84A28B}" type="datetime1">
              <a:rPr lang="en-US" smtClean="0"/>
              <a:t>1/7/2026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2EB2D2-6A44-4F2D-A900-88FB57048363}" type="datetime1">
              <a:rPr lang="en-US" smtClean="0"/>
              <a:t>1/7/2026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C1F36E-1B0D-458D-8A25-A9A6D29E1B38}" type="datetime1">
              <a:rPr lang="en-US" smtClean="0"/>
              <a:t>1/7/2026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34B9D6-B0DD-483E-B87F-3CE6E019EC80}" type="datetime1">
              <a:rPr lang="en-US" smtClean="0"/>
              <a:t>1/7/2026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83F8D3-E743-4546-AB84-A0C7B32CE3AA}" type="datetime1">
              <a:rPr lang="en-US" smtClean="0"/>
              <a:t>1/7/2026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ACBF59-7017-4ADA-9C9F-F447F848253E}" type="datetime1">
              <a:rPr lang="en-US" smtClean="0"/>
              <a:t>1/7/2026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A020BC-EE0B-4823-9570-AA9973903A83}" type="datetime1">
              <a:rPr lang="en-US" smtClean="0"/>
              <a:t>1/7/2026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27C685-7B0E-40A6-BD35-01C434C07BCB}" type="datetime1">
              <a:rPr lang="en-US" smtClean="0"/>
              <a:t>1/7/2026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B39530-4DAE-484D-B12B-7AB5453386E4}" type="datetime1">
              <a:rPr lang="en-US" smtClean="0"/>
              <a:t>1/7/2026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CAC49A-AAD6-4C52-B241-C18EF006DD86}" type="datetime1">
              <a:rPr lang="en-US" smtClean="0"/>
              <a:t>1/7/2026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AC09DA-AF37-4C04-9838-F400AF10697D}" type="datetime1">
              <a:rPr lang="en-US" smtClean="0"/>
              <a:t>1/7/2026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26D923-3DD5-449B-A92F-C3B4CFDA29DE}" type="datetime1">
              <a:rPr lang="en-US" smtClean="0"/>
              <a:t>1/7/2026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3429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3429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342900" algn="l" defTabSz="342900" rtl="0" eaLnBrk="1" latinLnBrk="0" hangingPunct="1">
        <a:spcBef>
          <a:spcPct val="20000"/>
        </a:spcBef>
        <a:buFont typeface="Arial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28700" indent="-342900" algn="l" defTabSz="3429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342900" algn="l" defTabSz="342900" rtl="0" eaLnBrk="1" latinLnBrk="0" hangingPunct="1">
        <a:spcBef>
          <a:spcPct val="20000"/>
        </a:spcBef>
        <a:buFont typeface="Arial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714500" indent="-342900" algn="l" defTabSz="342900" rtl="0" eaLnBrk="1" latinLnBrk="0" hangingPunct="1">
        <a:spcBef>
          <a:spcPct val="20000"/>
        </a:spcBef>
        <a:buFont typeface="Arial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20574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4003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7432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861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principlesofeconometrics.com/poe5/poe5.html" TargetMode="External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8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8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8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8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8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8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8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hyperlink" Target="https://ourworldindata.org/co2-emissions" TargetMode="Externa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hyperlink" Target="https://ourworldindata.org/co2-emissions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>
            <a:normAutofit fontScale="90000"/>
          </a:bodyPr>
          <a:lstStyle/>
          <a:p>
            <a:br>
              <a:rPr lang="en-US" sz="3600" b="1" dirty="0"/>
            </a:br>
            <a:r>
              <a:rPr dirty="0"/>
              <a:t> </a:t>
            </a:r>
            <a:r>
              <a:rPr lang="en-US" b="1" dirty="0"/>
              <a:t>SOK-3021 </a:t>
            </a:r>
            <a:r>
              <a:rPr lang="en-US" b="1" dirty="0" err="1"/>
              <a:t>Økonomisk</a:t>
            </a:r>
            <a:r>
              <a:rPr lang="en-US" b="1" dirty="0"/>
              <a:t> analyse av </a:t>
            </a:r>
            <a:r>
              <a:rPr lang="en-US" b="1" dirty="0" err="1"/>
              <a:t>tidsserier</a:t>
            </a:r>
            <a:br>
              <a:rPr lang="en-US" b="1" dirty="0"/>
            </a:br>
            <a:endParaRPr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>
            <a:normAutofit fontScale="47500" lnSpcReduction="20000"/>
          </a:bodyPr>
          <a:lstStyle/>
          <a:p>
            <a:pPr marL="0" lvl="0" indent="0">
              <a:buNone/>
            </a:pPr>
            <a:br>
              <a:rPr dirty="0"/>
            </a:br>
            <a:r>
              <a:rPr lang="en-US" sz="5100" b="1" dirty="0" err="1"/>
              <a:t>UiT</a:t>
            </a:r>
            <a:r>
              <a:rPr lang="en-US" sz="5100" b="1" dirty="0"/>
              <a:t> The Arctic University of Norway</a:t>
            </a:r>
          </a:p>
          <a:p>
            <a:pPr marL="0" lvl="0" indent="0">
              <a:buNone/>
            </a:pPr>
            <a:r>
              <a:rPr lang="en-US" sz="5100" b="1" dirty="0"/>
              <a:t>HHT</a:t>
            </a:r>
          </a:p>
          <a:p>
            <a:pPr marL="0" lvl="0" indent="0">
              <a:buNone/>
            </a:pPr>
            <a:br>
              <a:rPr dirty="0"/>
            </a:br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5B8F9F-2037-D882-C0A3-D4CBE005FC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612834" y="4712598"/>
            <a:ext cx="2133600" cy="273844"/>
          </a:xfrm>
        </p:spPr>
        <p:txBody>
          <a:bodyPr/>
          <a:lstStyle/>
          <a:p>
            <a:r>
              <a:rPr lang="en-US" sz="1200" b="1" dirty="0"/>
              <a:t>Date: Jan 07, 2026</a:t>
            </a:r>
            <a:r>
              <a:rPr lang="en-US" dirty="0"/>
              <a:t>                                  </a:t>
            </a:r>
            <a:fld id="{C5EF2332-01BF-834F-8236-50238282D533}" type="slidenum">
              <a:rPr lang="en-US" smtClean="0"/>
              <a:pPr/>
              <a:t>1</a:t>
            </a:fld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94837" y="278119"/>
            <a:ext cx="3219068" cy="446304"/>
          </a:xfrm>
        </p:spPr>
        <p:txBody>
          <a:bodyPr>
            <a:noAutofit/>
          </a:bodyPr>
          <a:lstStyle/>
          <a:p>
            <a:br>
              <a:rPr lang="en-US" sz="2800" dirty="0"/>
            </a:br>
            <a:br>
              <a:rPr lang="en-US" sz="2800" dirty="0"/>
            </a:br>
            <a:r>
              <a:rPr sz="2800" dirty="0"/>
              <a:t> </a:t>
            </a:r>
            <a:br>
              <a:rPr lang="en-US" sz="2800" dirty="0"/>
            </a:br>
            <a:br>
              <a:rPr lang="en-US" sz="2800" dirty="0"/>
            </a:br>
            <a:br>
              <a:rPr lang="en-US" sz="2800" dirty="0"/>
            </a:br>
            <a:br>
              <a:rPr lang="en-US" sz="2400" dirty="0"/>
            </a:br>
            <a:r>
              <a:rPr lang="en-US" sz="2400" dirty="0"/>
              <a:t>Course Description:</a:t>
            </a:r>
            <a:endParaRPr sz="240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1514" y="957485"/>
            <a:ext cx="6596275" cy="3973743"/>
          </a:xfrm>
        </p:spPr>
        <p:txBody>
          <a:bodyPr>
            <a:noAutofit/>
          </a:bodyPr>
          <a:lstStyle/>
          <a:p>
            <a:pPr marL="285750" lvl="0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altLang="en-US" sz="1800" dirty="0">
                <a:latin typeface="Arial" panose="020B0604020202020204" pitchFamily="34" charset="0"/>
              </a:rPr>
              <a:t>This course provides a </a:t>
            </a:r>
            <a:r>
              <a:rPr lang="en-US" altLang="en-US" sz="1800" b="1" dirty="0">
                <a:latin typeface="Arial" panose="020B0604020202020204" pitchFamily="34" charset="0"/>
              </a:rPr>
              <a:t>basic introduction to time series analysis</a:t>
            </a:r>
            <a:r>
              <a:rPr lang="en-US" altLang="en-US" sz="1800" dirty="0">
                <a:latin typeface="Arial" panose="020B0604020202020204" pitchFamily="34" charset="0"/>
              </a:rPr>
              <a:t>, with a focus on economic and financial data.</a:t>
            </a:r>
          </a:p>
          <a:p>
            <a:pPr marL="285750" lvl="0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endParaRPr lang="en-US" altLang="en-US" sz="1800" dirty="0">
              <a:latin typeface="Arial" panose="020B0604020202020204" pitchFamily="34" charset="0"/>
            </a:endParaRPr>
          </a:p>
          <a:p>
            <a:pPr marL="285750" lvl="0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altLang="en-US" sz="1800" dirty="0">
                <a:latin typeface="Arial" panose="020B0604020202020204" pitchFamily="34" charset="0"/>
              </a:rPr>
              <a:t>Students will learn how to </a:t>
            </a:r>
            <a:r>
              <a:rPr lang="en-US" altLang="en-US" sz="1800" b="1" dirty="0">
                <a:latin typeface="Arial" panose="020B0604020202020204" pitchFamily="34" charset="0"/>
              </a:rPr>
              <a:t>analyze, model, and forecast data that evolves over time</a:t>
            </a:r>
            <a:r>
              <a:rPr lang="en-US" altLang="en-US" sz="1800" dirty="0">
                <a:latin typeface="Arial" panose="020B0604020202020204" pitchFamily="34" charset="0"/>
              </a:rPr>
              <a:t>.</a:t>
            </a:r>
          </a:p>
          <a:p>
            <a:pPr marL="285750" lvl="0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endParaRPr lang="en-US" altLang="en-US" sz="1800" dirty="0">
              <a:latin typeface="Arial" panose="020B0604020202020204" pitchFamily="34" charset="0"/>
            </a:endParaRPr>
          </a:p>
          <a:p>
            <a:pPr marL="285750" lvl="0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altLang="en-US" sz="1800" dirty="0">
                <a:latin typeface="Arial" panose="020B0604020202020204" pitchFamily="34" charset="0"/>
              </a:rPr>
              <a:t>The course covers both </a:t>
            </a:r>
            <a:r>
              <a:rPr lang="en-US" altLang="en-US" sz="1800" b="1" dirty="0">
                <a:latin typeface="Arial" panose="020B0604020202020204" pitchFamily="34" charset="0"/>
              </a:rPr>
              <a:t>univariate and multivariate time series models</a:t>
            </a:r>
            <a:r>
              <a:rPr lang="en-US" altLang="en-US" sz="1800" dirty="0">
                <a:latin typeface="Arial" panose="020B0604020202020204" pitchFamily="34" charset="0"/>
              </a:rPr>
              <a:t>.</a:t>
            </a:r>
          </a:p>
          <a:p>
            <a:pPr marL="285750" lvl="0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endParaRPr lang="en-US" altLang="en-US" sz="1800" dirty="0">
              <a:latin typeface="Arial" panose="020B0604020202020204" pitchFamily="34" charset="0"/>
            </a:endParaRPr>
          </a:p>
          <a:p>
            <a:pPr marL="285750" lvl="0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altLang="en-US" sz="1800" dirty="0">
                <a:latin typeface="Arial" panose="020B0604020202020204" pitchFamily="34" charset="0"/>
              </a:rPr>
              <a:t>Emphasis is placed on </a:t>
            </a:r>
            <a:r>
              <a:rPr lang="en-US" altLang="en-US" sz="1800" b="1" dirty="0">
                <a:latin typeface="Arial" panose="020B0604020202020204" pitchFamily="34" charset="0"/>
              </a:rPr>
              <a:t>practical applications using R</a:t>
            </a:r>
            <a:r>
              <a:rPr lang="en-US" altLang="en-US" sz="1800" dirty="0">
                <a:latin typeface="Arial" panose="020B0604020202020204" pitchFamily="34" charset="0"/>
              </a:rPr>
              <a:t> for statistical computing and data visualization.</a:t>
            </a:r>
          </a:p>
          <a:p>
            <a:pPr lvl="0"/>
            <a:endParaRPr lang="en-US" sz="24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B768D7F-3ECA-FE99-41E3-EDCB9F83A1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5B2466-6A22-D381-82F6-7B4DE1F10C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89CE18-3B14-227E-AE3F-94BB852C2A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4914" y="79953"/>
            <a:ext cx="3219068" cy="446304"/>
          </a:xfrm>
        </p:spPr>
        <p:txBody>
          <a:bodyPr>
            <a:noAutofit/>
          </a:bodyPr>
          <a:lstStyle/>
          <a:p>
            <a:br>
              <a:rPr lang="en-US" sz="2800" dirty="0"/>
            </a:br>
            <a:br>
              <a:rPr lang="en-US" sz="2800" dirty="0"/>
            </a:br>
            <a:r>
              <a:rPr sz="2800" dirty="0"/>
              <a:t> </a:t>
            </a:r>
            <a:br>
              <a:rPr lang="en-US" sz="2800" dirty="0"/>
            </a:br>
            <a:br>
              <a:rPr lang="en-US" sz="2800" dirty="0"/>
            </a:br>
            <a:br>
              <a:rPr lang="en-US" sz="2800" dirty="0"/>
            </a:br>
            <a:br>
              <a:rPr lang="en-US" sz="2400" dirty="0"/>
            </a:br>
            <a:r>
              <a:rPr lang="en-US" sz="2400" dirty="0"/>
              <a:t>Course Curriculum: </a:t>
            </a:r>
            <a:endParaRPr sz="2400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6E7CB5-DB7F-6FFD-38CC-ED1AA5CD636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1515" y="584878"/>
            <a:ext cx="6146334" cy="4412874"/>
          </a:xfrm>
        </p:spPr>
        <p:txBody>
          <a:bodyPr>
            <a:noAutofit/>
          </a:bodyPr>
          <a:lstStyle/>
          <a:p>
            <a:pPr marL="285750" lvl="0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altLang="en-US" sz="1800" dirty="0">
                <a:latin typeface="Arial" panose="020B0604020202020204" pitchFamily="34" charset="0"/>
              </a:rPr>
              <a:t>In this course, we will cover the four chapters from the </a:t>
            </a:r>
            <a:r>
              <a:rPr lang="en-US" sz="1800" dirty="0">
                <a:hlinkClick r:id="rId2"/>
              </a:rPr>
              <a:t>Principles of Econometrics</a:t>
            </a:r>
            <a:r>
              <a:rPr lang="en-US" sz="1800" dirty="0"/>
              <a:t> 5th Edition (POE5), Wiley - 2018. </a:t>
            </a:r>
          </a:p>
          <a:p>
            <a:pPr marL="285750" lvl="0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endParaRPr lang="en-US" sz="1800" dirty="0"/>
          </a:p>
          <a:p>
            <a:pPr marL="285750" lvl="0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altLang="en-US" sz="1800" dirty="0">
                <a:latin typeface="Arial" panose="020B0604020202020204" pitchFamily="34" charset="0"/>
              </a:rPr>
              <a:t>The four chapters include: </a:t>
            </a:r>
          </a:p>
          <a:p>
            <a:pPr marL="285750" lvl="0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endParaRPr lang="en-US" altLang="en-US" sz="1800" dirty="0">
              <a:latin typeface="Arial" panose="020B0604020202020204" pitchFamily="34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800" b="1" dirty="0"/>
              <a:t> i) Chapters 9: </a:t>
            </a:r>
            <a:r>
              <a:rPr lang="en-US" sz="1800" dirty="0"/>
              <a:t>Regression with Time-Series Data: Stationary 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800" dirty="0"/>
              <a:t>                          Variables </a:t>
            </a:r>
          </a:p>
          <a:p>
            <a:pPr marL="285750" lvl="0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endParaRPr lang="en-US" sz="1800" dirty="0"/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800" b="1" dirty="0"/>
              <a:t>ii) Chapter 12: </a:t>
            </a:r>
            <a:r>
              <a:rPr lang="en-US" sz="1800" dirty="0"/>
              <a:t>Regression with Time-Series Data: Nonstationary 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800" dirty="0"/>
              <a:t>                           Variables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800" dirty="0"/>
              <a:t>iii) </a:t>
            </a:r>
            <a:r>
              <a:rPr lang="en-US" sz="1800" b="1" dirty="0"/>
              <a:t>Chapter 13:</a:t>
            </a:r>
            <a:r>
              <a:rPr lang="en-US" sz="1800" dirty="0"/>
              <a:t>Vector Error Correction and Vector 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800" dirty="0"/>
              <a:t>                            Autoregressive Models  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800" dirty="0"/>
              <a:t>iv) </a:t>
            </a:r>
            <a:r>
              <a:rPr lang="en-US" sz="1800" b="1" dirty="0"/>
              <a:t>Chapter 14: </a:t>
            </a:r>
            <a:r>
              <a:rPr lang="en-US" sz="1800" dirty="0"/>
              <a:t>Time-Varying Volatility and ARCH/GARCH  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800" dirty="0"/>
              <a:t>                            Models</a:t>
            </a:r>
            <a:endParaRPr lang="en-US" altLang="en-US" sz="1800" dirty="0">
              <a:latin typeface="Arial" panose="020B0604020202020204" pitchFamily="34" charset="0"/>
            </a:endParaRPr>
          </a:p>
          <a:p>
            <a:pPr lvl="0"/>
            <a:endParaRPr lang="en-US" sz="24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DA26557-61B9-1096-B1A8-4B4BE46F6C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14959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D69D43-DCD6-4478-6AEA-0438346E77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639EDF-652E-0B99-0DE3-4888A3780F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4913" y="79953"/>
            <a:ext cx="5043029" cy="446304"/>
          </a:xfrm>
        </p:spPr>
        <p:txBody>
          <a:bodyPr>
            <a:noAutofit/>
          </a:bodyPr>
          <a:lstStyle/>
          <a:p>
            <a:br>
              <a:rPr lang="en-US" sz="2800" dirty="0"/>
            </a:br>
            <a:br>
              <a:rPr lang="en-US" sz="2800" dirty="0"/>
            </a:br>
            <a:r>
              <a:rPr sz="2800" dirty="0"/>
              <a:t> </a:t>
            </a:r>
            <a:br>
              <a:rPr lang="en-US" sz="2800" dirty="0"/>
            </a:br>
            <a:br>
              <a:rPr lang="en-US" sz="2800" dirty="0"/>
            </a:br>
            <a:br>
              <a:rPr lang="en-US" sz="2800" dirty="0"/>
            </a:br>
            <a:br>
              <a:rPr lang="en-US" sz="2400" dirty="0"/>
            </a:br>
            <a:r>
              <a:rPr lang="en-US" sz="2400" dirty="0"/>
              <a:t>Assessments: Assignment and Exam </a:t>
            </a:r>
            <a:endParaRPr sz="2400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8CC89CA-7A35-D2E6-82B3-F0CC6ABDA0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1515" y="749447"/>
            <a:ext cx="6146334" cy="4412874"/>
          </a:xfrm>
        </p:spPr>
        <p:txBody>
          <a:bodyPr>
            <a:noAutofit/>
          </a:bodyPr>
          <a:lstStyle/>
          <a:p>
            <a:pPr marL="285750" lvl="0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sz="2000" b="1" dirty="0"/>
              <a:t>Assignment:</a:t>
            </a:r>
          </a:p>
          <a:p>
            <a:pPr marL="628650" lvl="1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Courier New" panose="02070309020205020404" pitchFamily="49" charset="0"/>
              <a:buChar char="o"/>
            </a:pPr>
            <a:r>
              <a:rPr lang="en-US" sz="2000" dirty="0"/>
              <a:t>This course includes </a:t>
            </a:r>
            <a:r>
              <a:rPr lang="en-US" sz="2000" b="1" dirty="0"/>
              <a:t>one mandatory assignment (</a:t>
            </a:r>
            <a:r>
              <a:rPr lang="en-US" sz="2000" dirty="0"/>
              <a:t>which must be presented orally). </a:t>
            </a:r>
          </a:p>
          <a:p>
            <a:pPr marL="628650" lvl="1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Courier New" panose="02070309020205020404" pitchFamily="49" charset="0"/>
              <a:buChar char="o"/>
            </a:pPr>
            <a:endParaRPr lang="en-US" sz="2000" dirty="0"/>
          </a:p>
          <a:p>
            <a:pPr marL="628650" lvl="1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Courier New" panose="02070309020205020404" pitchFamily="49" charset="0"/>
              <a:buChar char="o"/>
            </a:pPr>
            <a:r>
              <a:rPr lang="en-US" sz="2000" dirty="0"/>
              <a:t>Completion of both the assignment &amp; its presentation is required to be eligible for the final exam.</a:t>
            </a:r>
          </a:p>
          <a:p>
            <a:pPr marL="628650" lvl="1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Courier New" panose="02070309020205020404" pitchFamily="49" charset="0"/>
              <a:buChar char="o"/>
            </a:pPr>
            <a:endParaRPr lang="en-US" sz="2000" dirty="0"/>
          </a:p>
          <a:p>
            <a:pPr marL="628650" lvl="1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Courier New" panose="02070309020205020404" pitchFamily="49" charset="0"/>
              <a:buChar char="o"/>
            </a:pPr>
            <a:r>
              <a:rPr lang="en-US" sz="2000" dirty="0"/>
              <a:t>Students are required to find their own time series data and apply the full time series modeling procedure.</a:t>
            </a:r>
          </a:p>
          <a:p>
            <a:pPr marL="628650" lvl="1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Courier New" panose="02070309020205020404" pitchFamily="49" charset="0"/>
              <a:buChar char="o"/>
            </a:pPr>
            <a:r>
              <a:rPr lang="en-US" sz="2000" b="1" dirty="0"/>
              <a:t>Submission deadline:</a:t>
            </a:r>
            <a:r>
              <a:rPr lang="en-US" sz="2000" dirty="0"/>
              <a:t> At the end of the course</a:t>
            </a:r>
          </a:p>
          <a:p>
            <a:pPr marL="285750" lvl="0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endParaRPr lang="en-US" sz="18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CBC90CA-7FDA-39D0-06AA-B60ED14027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06706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D4E07C-6691-0580-7EE1-15CF7DF491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772B27-51C5-8E71-BF42-810ADF1FFF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4913" y="79953"/>
            <a:ext cx="5043029" cy="446304"/>
          </a:xfrm>
        </p:spPr>
        <p:txBody>
          <a:bodyPr>
            <a:noAutofit/>
          </a:bodyPr>
          <a:lstStyle/>
          <a:p>
            <a:br>
              <a:rPr lang="en-US" sz="2800" dirty="0"/>
            </a:br>
            <a:br>
              <a:rPr lang="en-US" sz="2800" dirty="0"/>
            </a:br>
            <a:r>
              <a:rPr sz="2800" dirty="0"/>
              <a:t> </a:t>
            </a:r>
            <a:br>
              <a:rPr lang="en-US" sz="2800" dirty="0"/>
            </a:br>
            <a:br>
              <a:rPr lang="en-US" sz="2800" dirty="0"/>
            </a:br>
            <a:br>
              <a:rPr lang="en-US" sz="2800" dirty="0"/>
            </a:br>
            <a:br>
              <a:rPr lang="en-US" sz="2400" dirty="0"/>
            </a:br>
            <a:r>
              <a:rPr lang="en-US" sz="2400" dirty="0"/>
              <a:t>Assessments: Assignment and Exam </a:t>
            </a:r>
            <a:endParaRPr sz="2400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B11AAA2-86E4-F77A-F965-7D09D49AFF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1515" y="584878"/>
            <a:ext cx="6146334" cy="4412874"/>
          </a:xfrm>
        </p:spPr>
        <p:txBody>
          <a:bodyPr>
            <a:no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1800" dirty="0"/>
          </a:p>
          <a:p>
            <a:pPr marL="285750" lvl="0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sz="2000" b="1" dirty="0"/>
              <a:t>School Exam</a:t>
            </a:r>
            <a:r>
              <a:rPr lang="en-US" sz="2000" dirty="0"/>
              <a:t>:</a:t>
            </a:r>
          </a:p>
          <a:p>
            <a:pPr marL="628650" lvl="1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Courier New" panose="02070309020205020404" pitchFamily="49" charset="0"/>
              <a:buChar char="o"/>
            </a:pPr>
            <a:r>
              <a:rPr lang="en-US" sz="2000" dirty="0"/>
              <a:t>Written school exam (</a:t>
            </a:r>
            <a:r>
              <a:rPr lang="en-US" sz="2000" b="1" dirty="0"/>
              <a:t>Date: 27/04 at Kl 09:00</a:t>
            </a:r>
            <a:r>
              <a:rPr lang="en-US" sz="2000" dirty="0"/>
              <a:t>)</a:t>
            </a:r>
          </a:p>
          <a:p>
            <a:pPr marL="628650" lvl="1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Courier New" panose="02070309020205020404" pitchFamily="49" charset="0"/>
              <a:buChar char="o"/>
            </a:pPr>
            <a:r>
              <a:rPr lang="en-US" sz="2000" b="1" dirty="0"/>
              <a:t>Exam Type: </a:t>
            </a:r>
            <a:r>
              <a:rPr lang="en-US" sz="2000" dirty="0"/>
              <a:t>Closed part + Open part </a:t>
            </a:r>
          </a:p>
          <a:p>
            <a:pPr marL="628650" lvl="1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Courier New" panose="02070309020205020404" pitchFamily="49" charset="0"/>
              <a:buChar char="o"/>
            </a:pPr>
            <a:endParaRPr lang="en-US" sz="2000" dirty="0"/>
          </a:p>
          <a:p>
            <a:pPr marL="628650" lvl="1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Courier New" panose="02070309020205020404" pitchFamily="49" charset="0"/>
              <a:buChar char="o"/>
            </a:pPr>
            <a:r>
              <a:rPr lang="en-US" sz="2000" b="1" u="sng" dirty="0"/>
              <a:t>Closed Exam (60%):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000" dirty="0"/>
              <a:t>                - True/False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000" dirty="0"/>
              <a:t>                - Multiple Choice 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000" dirty="0"/>
              <a:t>                - Fill in the blank's questions 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000" dirty="0"/>
          </a:p>
          <a:p>
            <a:pPr marL="628650" lvl="1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Courier New" panose="02070309020205020404" pitchFamily="49" charset="0"/>
              <a:buChar char="o"/>
            </a:pPr>
            <a:r>
              <a:rPr lang="en-US" sz="2000" b="1" u="sng" dirty="0"/>
              <a:t>Open Part (40%):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000" dirty="0"/>
              <a:t>              - Designed to test your empirical ability  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56E2A10-D10F-9C8F-D073-F9D72083D8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81587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9E07DF-F828-B728-A39E-305A020C4F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10859" y="1557327"/>
            <a:ext cx="5941483" cy="271471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b="1" dirty="0"/>
              <a:t>Introduction to Time Series Analysis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BBFDB0-FB75-EF3D-92F4-41EA0FDAA2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66905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91CD47-C5CB-1D46-DEB9-6ABC9F013A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F628D9-F40A-E5F9-16FC-40A6DE71F7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78570" y="132975"/>
            <a:ext cx="2496646" cy="446304"/>
          </a:xfrm>
        </p:spPr>
        <p:txBody>
          <a:bodyPr>
            <a:noAutofit/>
          </a:bodyPr>
          <a:lstStyle/>
          <a:p>
            <a:pPr lvl="0"/>
            <a:br>
              <a:rPr lang="en-US" sz="2800" dirty="0"/>
            </a:br>
            <a:br>
              <a:rPr lang="en-US" sz="2800" dirty="0"/>
            </a:br>
            <a:r>
              <a:rPr sz="2800" dirty="0"/>
              <a:t> </a:t>
            </a:r>
            <a:br>
              <a:rPr lang="en-US" sz="2800" dirty="0"/>
            </a:br>
            <a:r>
              <a:rPr lang="en-US" sz="2800" dirty="0"/>
              <a:t>Types of Data</a:t>
            </a:r>
            <a:endParaRPr sz="2800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67899F7-791A-DAB6-7734-C7465E45F1C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1515" y="957485"/>
            <a:ext cx="5754448" cy="3973743"/>
          </a:xfrm>
        </p:spPr>
        <p:txBody>
          <a:bodyPr>
            <a:noAutofit/>
          </a:bodyPr>
          <a:lstStyle/>
          <a:p>
            <a:pPr lvl="0"/>
            <a:r>
              <a:rPr lang="en-US" sz="2800" dirty="0"/>
              <a:t>In economics, we  often work with three types of data. </a:t>
            </a:r>
          </a:p>
          <a:p>
            <a:pPr lvl="0"/>
            <a:endParaRPr lang="en-US" sz="2800" dirty="0"/>
          </a:p>
          <a:p>
            <a:pPr lvl="0"/>
            <a:r>
              <a:rPr lang="en-US" sz="2800" b="1" dirty="0"/>
              <a:t>     </a:t>
            </a:r>
            <a:r>
              <a:rPr sz="2400" dirty="0"/>
              <a:t>1. Cross-sectional data</a:t>
            </a:r>
            <a:endParaRPr lang="en-US" sz="2400" dirty="0"/>
          </a:p>
          <a:p>
            <a:pPr lvl="0"/>
            <a:r>
              <a:rPr lang="en-US" sz="2400" dirty="0"/>
              <a:t>      2. Time series data</a:t>
            </a:r>
          </a:p>
          <a:p>
            <a:pPr lvl="0"/>
            <a:r>
              <a:rPr lang="en-US" sz="2400" dirty="0"/>
              <a:t>      3. Pooled/Panel data 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AED8FCF-A6B8-8C66-A463-4FB44459C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47955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E52CFD-FDF3-3EFF-3770-84665363CA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854FD1-970F-ACDD-8BF2-E93F15993C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0293" y="503656"/>
            <a:ext cx="4114799" cy="612792"/>
          </a:xfrm>
        </p:spPr>
        <p:txBody>
          <a:bodyPr>
            <a:normAutofit fontScale="90000"/>
          </a:bodyPr>
          <a:lstStyle/>
          <a:p>
            <a:pPr lvl="0"/>
            <a:br>
              <a:rPr lang="en-US" sz="1600" dirty="0"/>
            </a:br>
            <a:br>
              <a:rPr lang="en-US" sz="1600" dirty="0"/>
            </a:br>
            <a:br>
              <a:rPr lang="en-US" sz="1600" dirty="0"/>
            </a:br>
            <a:br>
              <a:rPr lang="en-US" sz="1600" dirty="0"/>
            </a:br>
            <a:br>
              <a:rPr lang="en-US" sz="1600" dirty="0"/>
            </a:br>
            <a:r>
              <a:rPr lang="en-US" sz="3100" dirty="0"/>
              <a:t>Cross-sectional Data:</a:t>
            </a:r>
            <a:br>
              <a:rPr lang="en-US" dirty="0"/>
            </a:br>
            <a:endParaRPr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6760BFB-F778-E79F-102A-D7D0259383D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03265" y="927762"/>
            <a:ext cx="5874906" cy="4027052"/>
          </a:xfrm>
        </p:spPr>
        <p:txBody>
          <a:bodyPr>
            <a:noAutofit/>
          </a:bodyPr>
          <a:lstStyle/>
          <a:p>
            <a:pPr marL="0" lvl="0" indent="0">
              <a:buNone/>
            </a:pPr>
            <a:r>
              <a:rPr lang="en-US" sz="2400" dirty="0"/>
              <a:t>Cross-sectional data are data on one or more variables collected from </a:t>
            </a:r>
            <a:r>
              <a:rPr lang="en-US" sz="2400" dirty="0">
                <a:solidFill>
                  <a:srgbClr val="FF0000"/>
                </a:solidFill>
              </a:rPr>
              <a:t>multiple units at the same point in time.</a:t>
            </a:r>
          </a:p>
          <a:p>
            <a:pPr marL="0" lvl="0" indent="0">
              <a:buNone/>
            </a:pPr>
            <a:endParaRPr lang="en-US" sz="2400" dirty="0">
              <a:solidFill>
                <a:srgbClr val="FF0000"/>
              </a:solidFill>
            </a:endParaRPr>
          </a:p>
          <a:p>
            <a:pPr marL="0" lvl="0" indent="0">
              <a:buNone/>
            </a:pPr>
            <a:r>
              <a:rPr lang="en-US" sz="2400" b="1" dirty="0"/>
              <a:t>Examples:</a:t>
            </a:r>
          </a:p>
          <a:p>
            <a:pPr marL="685800" lvl="1" indent="-342900">
              <a:buFont typeface="Arial" panose="020B0604020202020204" pitchFamily="34" charset="0"/>
              <a:buChar char="•"/>
            </a:pPr>
            <a:r>
              <a:rPr lang="en-US" sz="1850" dirty="0"/>
              <a:t>Income, educational level, age, and gender of 1,000 households in Norway in 2025</a:t>
            </a:r>
          </a:p>
          <a:p>
            <a:pPr marL="685800" lvl="1" indent="-342900">
              <a:buFont typeface="Arial" panose="020B0604020202020204" pitchFamily="34" charset="0"/>
              <a:buChar char="•"/>
            </a:pPr>
            <a:r>
              <a:rPr lang="en-US" sz="1850" dirty="0"/>
              <a:t>Health indicators (e.g., BMI, smoking status) of individuals surveyed once </a:t>
            </a:r>
          </a:p>
          <a:p>
            <a:pPr marL="685800" lvl="1" indent="-342900">
              <a:buFont typeface="Arial" panose="020B0604020202020204" pitchFamily="34" charset="0"/>
              <a:buChar char="•"/>
            </a:pPr>
            <a:r>
              <a:rPr lang="en-US" sz="2250" dirty="0"/>
              <a:t>Test scores of students from different schools in the same academic year , etc. </a:t>
            </a:r>
          </a:p>
          <a:p>
            <a:pPr marL="342900" lvl="0" indent="-342900">
              <a:buFont typeface="Wingdings" panose="05000000000000000000" pitchFamily="2" charset="2"/>
              <a:buChar char="§"/>
            </a:pPr>
            <a:endParaRPr lang="en-US" sz="2400" dirty="0">
              <a:solidFill>
                <a:srgbClr val="FF0000"/>
              </a:solidFill>
            </a:endParaRPr>
          </a:p>
          <a:p>
            <a:pPr marL="0" lvl="0" indent="0">
              <a:buNone/>
            </a:pPr>
            <a:endParaRPr lang="en-US" sz="24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5963B3E-1DC5-52DC-E4DE-562DD05915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90823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2" y="641295"/>
            <a:ext cx="5667828" cy="4334494"/>
          </a:xfrm>
        </p:spPr>
        <p:txBody>
          <a:bodyPr>
            <a:noAutofit/>
          </a:bodyPr>
          <a:lstStyle/>
          <a:p>
            <a:pPr marL="342900" lvl="0" indent="-342900">
              <a:buFont typeface="Wingdings" panose="05000000000000000000" pitchFamily="2" charset="2"/>
              <a:buChar char="§"/>
            </a:pPr>
            <a:r>
              <a:rPr lang="en-US" sz="2400" dirty="0"/>
              <a:t>A time series is a set of observations on the values that a variable takes at </a:t>
            </a:r>
            <a:r>
              <a:rPr lang="en-US" sz="2400" dirty="0">
                <a:solidFill>
                  <a:srgbClr val="FF0000"/>
                </a:solidFill>
              </a:rPr>
              <a:t>different times</a:t>
            </a:r>
            <a:r>
              <a:rPr lang="en-US" sz="2400" dirty="0"/>
              <a:t>.</a:t>
            </a:r>
          </a:p>
          <a:p>
            <a:pPr marL="342900" lvl="0" indent="-342900">
              <a:buFont typeface="Wingdings" panose="05000000000000000000" pitchFamily="2" charset="2"/>
              <a:buChar char="§"/>
            </a:pPr>
            <a:r>
              <a:rPr lang="en-US" sz="2400" dirty="0"/>
              <a:t>It is collected at a </a:t>
            </a:r>
            <a:r>
              <a:rPr lang="en-US" sz="2400" dirty="0">
                <a:solidFill>
                  <a:srgbClr val="FF0000"/>
                </a:solidFill>
              </a:rPr>
              <a:t>regular time intervals</a:t>
            </a:r>
            <a:r>
              <a:rPr lang="en-US" sz="2400" dirty="0"/>
              <a:t>, such as annually, quarterly, monthly, weekly,  daily, etc. </a:t>
            </a:r>
          </a:p>
          <a:p>
            <a:pPr marL="0" lvl="0" indent="0">
              <a:buNone/>
            </a:pPr>
            <a:r>
              <a:rPr lang="en-US" sz="2400" b="1" dirty="0"/>
              <a:t>Examples:</a:t>
            </a:r>
          </a:p>
          <a:p>
            <a:pPr marL="342900" lvl="0" indent="-342900">
              <a:buFontTx/>
              <a:buChar char="-"/>
            </a:pPr>
            <a:r>
              <a:rPr lang="en-US" sz="2400" dirty="0"/>
              <a:t>GDP of Norway, 1960-2025</a:t>
            </a:r>
          </a:p>
          <a:p>
            <a:pPr marL="342900" lvl="0" indent="-342900">
              <a:buFontTx/>
              <a:buChar char="-"/>
            </a:pPr>
            <a:r>
              <a:rPr lang="en-US" sz="2400" dirty="0"/>
              <a:t>Monthly inflation rate &amp; unemployment rate in Norway, 2000 - 2025, etc.</a:t>
            </a:r>
            <a:endParaRPr sz="2400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1BDFE7AB-137D-F583-CE65-C2566B52E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1" y="167711"/>
            <a:ext cx="3243486" cy="612792"/>
          </a:xfrm>
        </p:spPr>
        <p:txBody>
          <a:bodyPr>
            <a:normAutofit fontScale="90000"/>
          </a:bodyPr>
          <a:lstStyle/>
          <a:p>
            <a:pPr lvl="0"/>
            <a:br>
              <a:rPr lang="en-US" sz="1600" dirty="0"/>
            </a:br>
            <a:br>
              <a:rPr lang="en-US" sz="1600" dirty="0"/>
            </a:br>
            <a:br>
              <a:rPr lang="en-US" sz="1600" dirty="0"/>
            </a:br>
            <a:br>
              <a:rPr lang="en-US" sz="1600" dirty="0"/>
            </a:br>
            <a:br>
              <a:rPr lang="en-US" sz="1600" dirty="0"/>
            </a:br>
            <a:r>
              <a:rPr lang="en-US" sz="3100" dirty="0"/>
              <a:t>Time Series Data:</a:t>
            </a:r>
            <a:br>
              <a:rPr lang="en-US" dirty="0"/>
            </a:br>
            <a:endParaRPr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DDBB3AE-5CFE-EE77-56D9-7E625944E2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19901" y="645037"/>
            <a:ext cx="6266309" cy="4498463"/>
          </a:xfrm>
        </p:spPr>
        <p:txBody>
          <a:bodyPr>
            <a:normAutofit fontScale="70000" lnSpcReduction="20000"/>
          </a:bodyPr>
          <a:lstStyle/>
          <a:p>
            <a:pPr marL="342900" lvl="0" indent="-342900">
              <a:buFont typeface="Wingdings" panose="05000000000000000000" pitchFamily="2" charset="2"/>
              <a:buChar char="§"/>
            </a:pPr>
            <a:r>
              <a:rPr lang="en-US" sz="3400" dirty="0"/>
              <a:t>Pooled data is a combination of both cross-sectional &amp; time series data. </a:t>
            </a:r>
          </a:p>
          <a:p>
            <a:pPr marL="342900" lvl="0" indent="-342900">
              <a:buFont typeface="Wingdings" panose="05000000000000000000" pitchFamily="2" charset="2"/>
              <a:buChar char="§"/>
            </a:pPr>
            <a:r>
              <a:rPr lang="en-US" sz="3400" dirty="0"/>
              <a:t>It is d</a:t>
            </a:r>
            <a:r>
              <a:rPr sz="3400" dirty="0"/>
              <a:t>ata collected from </a:t>
            </a:r>
            <a:r>
              <a:rPr sz="3400" dirty="0">
                <a:solidFill>
                  <a:srgbClr val="FF0000"/>
                </a:solidFill>
              </a:rPr>
              <a:t>multiple units observed over time</a:t>
            </a:r>
            <a:r>
              <a:rPr lang="en-US" sz="3400" dirty="0"/>
              <a:t>.</a:t>
            </a:r>
          </a:p>
          <a:p>
            <a:pPr marL="342900" lvl="0" indent="-342900">
              <a:buFont typeface="Wingdings" panose="05000000000000000000" pitchFamily="2" charset="2"/>
              <a:buChar char="§"/>
            </a:pPr>
            <a:r>
              <a:rPr lang="en-US" sz="3400" dirty="0"/>
              <a:t>Panel/longitudinal data is a special type of pooled data in which the same cross-sectional unit (say , a family or firm) is surveyed over time. </a:t>
            </a:r>
          </a:p>
          <a:p>
            <a:pPr lvl="0"/>
            <a:endParaRPr lang="en-US" sz="2400" dirty="0"/>
          </a:p>
          <a:p>
            <a:pPr lvl="0"/>
            <a:r>
              <a:rPr lang="en-US" sz="3100" b="1" dirty="0"/>
              <a:t>Examples:</a:t>
            </a:r>
          </a:p>
          <a:p>
            <a:pPr marL="457200" lvl="0" indent="-457200">
              <a:buFont typeface="Wingdings" panose="05000000000000000000" pitchFamily="2" charset="2"/>
              <a:buChar char="ü"/>
            </a:pPr>
            <a:r>
              <a:rPr lang="en-US" sz="2900" dirty="0"/>
              <a:t>Household panels tracking consumption and demographics over time</a:t>
            </a:r>
          </a:p>
          <a:p>
            <a:pPr marL="457200" lvl="0" indent="-457200">
              <a:buFont typeface="Wingdings" panose="05000000000000000000" pitchFamily="2" charset="2"/>
              <a:buChar char="ü"/>
            </a:pPr>
            <a:r>
              <a:rPr lang="en-US" sz="2900" dirty="0"/>
              <a:t>Country-level macroeconomic indicators (e.g., GDP, inflation) observed over several decades, etc.</a:t>
            </a:r>
          </a:p>
          <a:p>
            <a:pPr lvl="0"/>
            <a:endParaRPr sz="2400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365A6901-F66B-3A91-9838-128F8D8FAF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1" y="167711"/>
            <a:ext cx="3243486" cy="612792"/>
          </a:xfrm>
        </p:spPr>
        <p:txBody>
          <a:bodyPr>
            <a:normAutofit fontScale="90000"/>
          </a:bodyPr>
          <a:lstStyle/>
          <a:p>
            <a:pPr lvl="0"/>
            <a:br>
              <a:rPr lang="en-US" sz="1600" dirty="0"/>
            </a:br>
            <a:br>
              <a:rPr lang="en-US" sz="1600" dirty="0"/>
            </a:br>
            <a:br>
              <a:rPr lang="en-US" sz="1600" dirty="0"/>
            </a:br>
            <a:br>
              <a:rPr lang="en-US" sz="1600" dirty="0"/>
            </a:br>
            <a:br>
              <a:rPr lang="en-US" sz="1600" dirty="0"/>
            </a:br>
            <a:r>
              <a:rPr lang="en-US" sz="3100" dirty="0"/>
              <a:t> Pooled/Panel Data</a:t>
            </a:r>
            <a:br>
              <a:rPr lang="en-US" dirty="0"/>
            </a:br>
            <a:endParaRPr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C7C20C7-8180-D6D5-C7AC-334E05C8D1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5979"/>
            <a:ext cx="4598610" cy="597145"/>
          </a:xfrm>
        </p:spPr>
        <p:txBody>
          <a:bodyPr>
            <a:normAutofit/>
          </a:bodyPr>
          <a:lstStyle/>
          <a:p>
            <a:pPr marL="0" lvl="0" indent="0">
              <a:buNone/>
            </a:pPr>
            <a:r>
              <a:rPr lang="en-US" dirty="0"/>
              <a:t>Time Series Analysis</a:t>
            </a:r>
            <a:endParaRPr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731641" y="803124"/>
                <a:ext cx="6152690" cy="4286552"/>
              </a:xfrm>
            </p:spPr>
            <p:txBody>
              <a:bodyPr>
                <a:normAutofit/>
              </a:bodyPr>
              <a:lstStyle/>
              <a:p>
                <a:pPr lvl="0"/>
                <a:r>
                  <a:rPr lang="en-US" dirty="0"/>
                  <a:t>Time series data observe the same variable over multiple time periods.</a:t>
                </a:r>
              </a:p>
              <a:p>
                <a:pPr>
                  <a:lnSpc>
                    <a:spcPct val="120000"/>
                  </a:lnSpc>
                </a:pPr>
                <a:r>
                  <a:rPr lang="en-US" dirty="0"/>
                  <a:t>Such observations may be denoted by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,...,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,...,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𝑇</m:t>
                        </m:r>
                      </m:sub>
                    </m:sSub>
                  </m:oMath>
                </a14:m>
                <a:r>
                  <a:rPr lang="ar-AE" dirty="0"/>
                  <a:t> </a:t>
                </a:r>
                <a:r>
                  <a:rPr lang="en-US" dirty="0"/>
                  <a:t>since data are usually collected at discrete points in time</a:t>
                </a:r>
              </a:p>
              <a:p>
                <a:pPr marL="0" indent="0">
                  <a:lnSpc>
                    <a:spcPct val="120000"/>
                  </a:lnSpc>
                  <a:buNone/>
                </a:pPr>
                <a:endParaRPr lang="en-US" dirty="0"/>
              </a:p>
              <a:p>
                <a:pPr>
                  <a:lnSpc>
                    <a:spcPct val="120000"/>
                  </a:lnSpc>
                </a:pPr>
                <a:endParaRPr lang="en-US" dirty="0"/>
              </a:p>
              <a:p>
                <a:pPr marL="0" indent="0" latinLnBrk="1">
                  <a:buNone/>
                </a:pPr>
                <a:br>
                  <a:rPr lang="en-US" dirty="0"/>
                </a:br>
                <a:endParaRPr lang="en-US" dirty="0"/>
              </a:p>
              <a:p>
                <a:pPr lvl="0"/>
                <a:endParaRPr lang="en-US" dirty="0"/>
              </a:p>
              <a:p>
                <a:pPr lvl="0"/>
                <a:endParaRPr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31641" y="803124"/>
                <a:ext cx="6152690" cy="4286552"/>
              </a:xfrm>
              <a:blipFill>
                <a:blip r:embed="rId2"/>
                <a:stretch>
                  <a:fillRect l="-1288" t="-1138" r="-20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1" name="Picture 50">
            <a:extLst>
              <a:ext uri="{FF2B5EF4-FFF2-40B4-BE49-F238E27FC236}">
                <a16:creationId xmlns:a16="http://schemas.microsoft.com/office/drawing/2014/main" id="{FB9BA01C-5544-1AF4-0694-BEE5F1427D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56481" y="3108678"/>
            <a:ext cx="3223462" cy="2017172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F087B4-EBA1-BD36-B6CD-23E4EA8263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11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8C8873-0942-364A-22E4-8CC0D23BB0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CC001B-8141-71D3-6825-51F324DE7E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05979"/>
            <a:ext cx="5382381" cy="857250"/>
          </a:xfrm>
        </p:spPr>
        <p:txBody>
          <a:bodyPr>
            <a:normAutofit/>
          </a:bodyPr>
          <a:lstStyle/>
          <a:p>
            <a:pPr marL="0" lvl="0" indent="0">
              <a:buNone/>
            </a:pPr>
            <a:r>
              <a:rPr lang="en-US" dirty="0"/>
              <a:t>Features of Time Series Data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08A920-10D1-E91E-5BCC-48A7B132EB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5139" y="1063229"/>
            <a:ext cx="7003590" cy="3960926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Time-series data have a natural </a:t>
            </a:r>
            <a:r>
              <a:rPr lang="en-US" b="1" dirty="0"/>
              <a:t>ordering</a:t>
            </a:r>
            <a:r>
              <a:rPr lang="en-US" dirty="0"/>
              <a:t>  according to time </a:t>
            </a:r>
          </a:p>
          <a:p>
            <a:r>
              <a:rPr lang="en-US" dirty="0"/>
              <a:t>Time-series observations on a given economic unit, observed over a number of time periods, are likely to be </a:t>
            </a:r>
            <a:r>
              <a:rPr lang="en-US" b="1" dirty="0"/>
              <a:t>correlated</a:t>
            </a:r>
            <a:endParaRPr lang="en-US" dirty="0"/>
          </a:p>
          <a:p>
            <a:pPr lvl="0"/>
            <a:r>
              <a:rPr lang="en-US" sz="2200" dirty="0"/>
              <a:t>That is, what happens today may depend on what happened yesterday</a:t>
            </a:r>
          </a:p>
          <a:p>
            <a:r>
              <a:rPr lang="en-US" sz="2200" dirty="0"/>
              <a:t>In time series data, there is the mutual dependence between the observations, generally called </a:t>
            </a:r>
            <a:r>
              <a:rPr lang="en-US" sz="1600" b="1" dirty="0">
                <a:solidFill>
                  <a:srgbClr val="FF0000"/>
                </a:solidFill>
              </a:rPr>
              <a:t>SERIAL CORRELATION OR AUTOCORRELATION</a:t>
            </a:r>
            <a:r>
              <a:rPr lang="en-US" sz="1600" dirty="0">
                <a:solidFill>
                  <a:srgbClr val="FF0000"/>
                </a:solidFill>
              </a:rPr>
              <a:t> </a:t>
            </a:r>
            <a:r>
              <a:rPr lang="en-US" sz="2200" dirty="0"/>
              <a:t>observation at time t</a:t>
            </a:r>
          </a:p>
          <a:p>
            <a:pPr lvl="0"/>
            <a:endParaRPr lang="en-US" dirty="0"/>
          </a:p>
          <a:p>
            <a:pPr lvl="0"/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5FED4C-CC76-B6A1-1B9C-2BD7CF357D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501003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504646-2EB3-CA29-C7FE-B2A187778E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8FDEC1-24F5-AB67-5B40-FE2408BCAD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1" y="205979"/>
            <a:ext cx="4830838" cy="606821"/>
          </a:xfrm>
        </p:spPr>
        <p:txBody>
          <a:bodyPr>
            <a:normAutofit/>
          </a:bodyPr>
          <a:lstStyle/>
          <a:p>
            <a:pPr marL="0" lvl="0" indent="0">
              <a:buNone/>
            </a:pPr>
            <a:r>
              <a:rPr lang="en-US" dirty="0"/>
              <a:t> Time Series Analysis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553B75-F6A8-AE76-4E0A-A2B74BEA5E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7730" y="903572"/>
            <a:ext cx="7003590" cy="3960926"/>
          </a:xfrm>
        </p:spPr>
        <p:txBody>
          <a:bodyPr>
            <a:normAutofit fontScale="92500" lnSpcReduction="10000"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altLang="en-US" dirty="0"/>
              <a:t>In time series analysis, we analyze the past behavior of a variable in order to predict its future behavior.</a:t>
            </a:r>
          </a:p>
          <a:p>
            <a:pPr>
              <a:buFont typeface="Arial" panose="020B0604020202020204" pitchFamily="34" charset="0"/>
              <a:buChar char="•"/>
            </a:pPr>
            <a:endParaRPr lang="en-US" altLang="en-US" dirty="0"/>
          </a:p>
          <a:p>
            <a:r>
              <a:rPr lang="en-US" altLang="en-US" dirty="0"/>
              <a:t>Businesses are often very interested in forecasting time series variables 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ince social and economic conditions are constantly changing over time. </a:t>
            </a:r>
          </a:p>
          <a:p>
            <a:endParaRPr lang="en-US" altLang="en-US" dirty="0"/>
          </a:p>
          <a:p>
            <a:r>
              <a:rPr lang="en-US" b="1" dirty="0"/>
              <a:t>Time Series Analysis</a:t>
            </a:r>
            <a:r>
              <a:rPr lang="en-US" dirty="0"/>
              <a:t>, using statistical methods, allows to enhance comprehension and </a:t>
            </a:r>
            <a:r>
              <a:rPr lang="en-US" b="1" dirty="0"/>
              <a:t>predictions</a:t>
            </a:r>
            <a:r>
              <a:rPr lang="en-US" dirty="0"/>
              <a:t> on any quantitative variable of interest (sales, demand of products, financial performance indicators, logistics, etc.)</a:t>
            </a:r>
          </a:p>
          <a:p>
            <a:endParaRPr lang="en-US" altLang="en-US" dirty="0"/>
          </a:p>
          <a:p>
            <a:pPr lvl="0"/>
            <a:endParaRPr lang="en-US" dirty="0"/>
          </a:p>
          <a:p>
            <a:pPr lvl="0"/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F65BDE-8DEF-DA77-0685-C32F5F7678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123756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2381" y="60836"/>
            <a:ext cx="8229600" cy="611659"/>
          </a:xfrm>
        </p:spPr>
        <p:txBody>
          <a:bodyPr/>
          <a:lstStyle/>
          <a:p>
            <a:pPr marL="0" lvl="0" indent="0">
              <a:buNone/>
            </a:pPr>
            <a:r>
              <a:rPr dirty="0"/>
              <a:t>Area of Applications of Time Series?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4791" y="688224"/>
            <a:ext cx="7420638" cy="4455276"/>
          </a:xfrm>
        </p:spPr>
        <p:txBody>
          <a:bodyPr>
            <a:noAutofit/>
          </a:bodyPr>
          <a:lstStyle/>
          <a:p>
            <a:pPr marL="0" lvl="0" indent="0">
              <a:buNone/>
            </a:pP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fields of application of Time series Analysis are numerous: Demand Planning is one of the most common application, however, from industry to industry there are other possible uses. For instance:</a:t>
            </a:r>
          </a:p>
          <a:p>
            <a:pPr marL="0" lvl="0" indent="0">
              <a:buNone/>
            </a:pPr>
            <a:r>
              <a:rPr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(a) Economics:</a:t>
            </a: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GDP, monthly unemployment rates, inflation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</a:p>
          <a:p>
            <a:pPr marL="0" lv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</a:t>
            </a: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rates,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stock market prices,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sales, prices, etc.</a:t>
            </a:r>
          </a:p>
          <a:p>
            <a:pPr marL="0" lvl="0" indent="0">
              <a:buNone/>
            </a:pPr>
            <a:r>
              <a:rPr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(b) Epidemiology:</a:t>
            </a: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number of influenza cases observed over 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</a:t>
            </a: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sometime period, the number of COVID-19 cases and deaths, etc.</a:t>
            </a:r>
          </a:p>
          <a:p>
            <a:pPr marL="0" lvl="0" indent="0">
              <a:buNone/>
            </a:pPr>
            <a:r>
              <a:rPr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(c) Social sciences:</a:t>
            </a: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population series, such as birthrates, school 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</a:t>
            </a: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enrollments, etc.</a:t>
            </a:r>
          </a:p>
          <a:p>
            <a:pPr marL="0" lvl="0" indent="0">
              <a:buNone/>
            </a:pPr>
            <a:r>
              <a:rPr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(d) Transport:</a:t>
            </a: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Number of traffic accidents per day, month, or year, 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</a:t>
            </a: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number of passengers traveling through airports each month or year, </a:t>
            </a:r>
            <a:r>
              <a:rPr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etc</a:t>
            </a:r>
            <a:endParaRPr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>
              <a:buNone/>
            </a:pPr>
            <a:r>
              <a:rPr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(e). Global warming,</a:t>
            </a: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CO2 concentration in the atmosphere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2050</a:t>
            </a: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etc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….</a:t>
            </a:r>
            <a:endParaRPr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4BAF9E-DE1C-2F6D-DC48-DC8B8DFD52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291919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103188"/>
            <a:ext cx="5780826" cy="549956"/>
          </a:xfrm>
        </p:spPr>
        <p:txBody>
          <a:bodyPr>
            <a:noAutofit/>
          </a:bodyPr>
          <a:lstStyle/>
          <a:p>
            <a:pPr lvl="0"/>
            <a:r>
              <a:rPr lang="en-US" sz="2800" dirty="0"/>
              <a:t>Forecasting </a:t>
            </a:r>
            <a:endParaRPr sz="280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4548" y="714380"/>
            <a:ext cx="5878652" cy="4153348"/>
          </a:xfrm>
        </p:spPr>
        <p:txBody>
          <a:bodyPr>
            <a:noAutofit/>
          </a:bodyPr>
          <a:lstStyle/>
          <a:p>
            <a:pPr marL="0" lvl="0" indent="0">
              <a:buNone/>
            </a:pP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Once someone said: 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“</a:t>
            </a: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Forecasting is the art of saying what will happen in the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</a:p>
          <a:p>
            <a:pPr marL="0" lv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and then explaining why it didn’t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reality is that forecasting is a really tough task, and you can do really bad, </a:t>
            </a:r>
          </a:p>
          <a:p>
            <a:pPr marL="0" lvl="0" indent="0">
              <a:buNone/>
            </a:pP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>
              <a:buFont typeface="Wingdings" panose="05000000000000000000" pitchFamily="2" charset="2"/>
              <a:buChar char="§"/>
            </a:pP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istory is full of examples of «</a:t>
            </a:r>
            <a:r>
              <a:rPr sz="1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bad forecasts</a:t>
            </a: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», just like IBM Chairman’s famous quote in 1943: “</a:t>
            </a:r>
            <a:r>
              <a:rPr sz="1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there is a world market for maybe five computers in the future</a:t>
            </a: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.”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>
              <a:buFont typeface="Wingdings" panose="05000000000000000000" pitchFamily="2" charset="2"/>
              <a:buChar char="§"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>
              <a:buFont typeface="Wingdings" panose="05000000000000000000" pitchFamily="2" charset="2"/>
              <a:buChar char="§"/>
            </a:pP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But we can definitely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educe uncertainty and improve the accuracy of our forecasts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A35C658-3501-30E6-203D-EA32A469E3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915141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4787"/>
            <a:ext cx="5584542" cy="412792"/>
          </a:xfrm>
        </p:spPr>
        <p:txBody>
          <a:bodyPr>
            <a:noAutofit/>
          </a:bodyPr>
          <a:lstStyle/>
          <a:p>
            <a:pPr lvl="0"/>
            <a:r>
              <a:rPr lang="en-US" sz="2800" dirty="0"/>
              <a:t>Graphical Analysis: </a:t>
            </a:r>
            <a:r>
              <a:rPr sz="2800" dirty="0"/>
              <a:t>Time</a:t>
            </a:r>
            <a:r>
              <a:rPr lang="en-US" sz="2800" dirty="0"/>
              <a:t> Series </a:t>
            </a:r>
            <a:r>
              <a:rPr sz="2800" dirty="0"/>
              <a:t> </a:t>
            </a:r>
            <a:r>
              <a:rPr lang="en-US" sz="2800" dirty="0"/>
              <a:t>p</a:t>
            </a:r>
            <a:r>
              <a:rPr sz="2800" dirty="0"/>
              <a:t>lot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87534" y="2786458"/>
            <a:ext cx="3497828" cy="1437077"/>
          </a:xfrm>
        </p:spPr>
        <p:txBody>
          <a:bodyPr>
            <a:no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sz="2000" dirty="0"/>
              <a:t>What do you notice about the movement of GDP over time?</a:t>
            </a:r>
            <a:endParaRPr lang="en-US" sz="20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sz="2000" dirty="0"/>
              <a:t>Can you see periods of faster or slower growth?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2BFA252-9962-C385-ED65-35B3CE316E31}"/>
              </a:ext>
            </a:extLst>
          </p:cNvPr>
          <p:cNvSpPr txBox="1"/>
          <p:nvPr/>
        </p:nvSpPr>
        <p:spPr>
          <a:xfrm>
            <a:off x="307417" y="920761"/>
            <a:ext cx="3127632" cy="18466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rgbClr val="993300"/>
                </a:solidFill>
              </a:rPr>
              <a:t>A time series plot  is a sequence plot with the time series variable </a:t>
            </a:r>
            <a:r>
              <a:rPr lang="en-US" dirty="0" err="1">
                <a:solidFill>
                  <a:srgbClr val="993300"/>
                </a:solidFill>
              </a:rPr>
              <a:t>y</a:t>
            </a:r>
            <a:r>
              <a:rPr lang="en-US" sz="1800" baseline="-25000" dirty="0" err="1">
                <a:solidFill>
                  <a:srgbClr val="993300"/>
                </a:solidFill>
                <a:latin typeface="Times New Roman" pitchFamily="18" charset="0"/>
                <a:ea typeface="Arial Unicode MS" pitchFamily="34" charset="-128"/>
                <a:cs typeface="Arial Unicode MS" pitchFamily="34" charset="-128"/>
              </a:rPr>
              <a:t>t</a:t>
            </a:r>
            <a:r>
              <a:rPr lang="en-US" sz="1800" dirty="0">
                <a:solidFill>
                  <a:srgbClr val="993300"/>
                </a:solidFill>
                <a:latin typeface="Times New Roman" pitchFamily="18" charset="0"/>
                <a:ea typeface="Arial Unicode MS" pitchFamily="34" charset="-128"/>
                <a:cs typeface="Arial Unicode MS" pitchFamily="34" charset="-128"/>
              </a:rPr>
              <a:t> </a:t>
            </a:r>
            <a:r>
              <a:rPr lang="en-US" sz="2000" dirty="0">
                <a:solidFill>
                  <a:srgbClr val="993300"/>
                </a:solidFill>
                <a:latin typeface="Times New Roman" pitchFamily="18" charset="0"/>
                <a:ea typeface="Arial Unicode MS" pitchFamily="34" charset="-128"/>
                <a:cs typeface="Arial Unicode MS" pitchFamily="34" charset="-128"/>
              </a:rPr>
              <a:t>the vertical axis and time t on the horizontal axis.</a:t>
            </a:r>
            <a:br>
              <a:rPr lang="en-US" sz="2000" dirty="0">
                <a:solidFill>
                  <a:srgbClr val="993300"/>
                </a:solidFill>
                <a:latin typeface="Times New Roman" pitchFamily="18" charset="0"/>
                <a:ea typeface="Arial Unicode MS" pitchFamily="34" charset="-128"/>
                <a:cs typeface="Arial Unicode MS" pitchFamily="34" charset="-128"/>
              </a:rPr>
            </a:b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7E815C0-FD38-10C3-85F3-11627DFF8E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16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96734D20-A934-62DB-CE2E-92B6E3E8C8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05172" y="716039"/>
            <a:ext cx="5073140" cy="313085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ntroduction_TS_files/figure-pptx/unnamed-chunk-5-1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819716" y="1151112"/>
            <a:ext cx="4149641" cy="25527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F889C139-D219-C5AC-C758-917DF83F2F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04787"/>
            <a:ext cx="5584542" cy="412792"/>
          </a:xfrm>
        </p:spPr>
        <p:txBody>
          <a:bodyPr>
            <a:noAutofit/>
          </a:bodyPr>
          <a:lstStyle/>
          <a:p>
            <a:pPr marL="0" lvl="0" indent="0">
              <a:buNone/>
            </a:pPr>
            <a:r>
              <a:rPr sz="2800" dirty="0"/>
              <a:t>Graphical Analysis: Time</a:t>
            </a:r>
            <a:r>
              <a:rPr lang="en-US" sz="2800" dirty="0"/>
              <a:t> Series </a:t>
            </a:r>
            <a:r>
              <a:rPr sz="2800" dirty="0"/>
              <a:t> </a:t>
            </a:r>
            <a:r>
              <a:rPr lang="en-US" sz="2800" dirty="0"/>
              <a:t>p</a:t>
            </a:r>
            <a:r>
              <a:rPr sz="2800" dirty="0"/>
              <a:t>lot</a:t>
            </a:r>
          </a:p>
        </p:txBody>
      </p:sp>
      <p:sp>
        <p:nvSpPr>
          <p:cNvPr id="9" name="Text Placeholder 3"/>
          <p:cNvSpPr>
            <a:spLocks noGrp="1"/>
          </p:cNvSpPr>
          <p:nvPr>
            <p:ph type="body" sz="half" idx="2"/>
          </p:nvPr>
        </p:nvSpPr>
        <p:spPr>
          <a:xfrm>
            <a:off x="5388259" y="1517087"/>
            <a:ext cx="3008313" cy="1486764"/>
          </a:xfrm>
        </p:spPr>
        <p:txBody>
          <a:bodyPr>
            <a:norm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sz="2000" dirty="0"/>
              <a:t>Does inflation change smoothly or abruptly?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3AC6A6-3450-223C-1142-B5832DD252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17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5690506" cy="465454"/>
          </a:xfrm>
        </p:spPr>
        <p:txBody>
          <a:bodyPr>
            <a:noAutofit/>
          </a:bodyPr>
          <a:lstStyle/>
          <a:p>
            <a:pPr marL="0" lvl="0" indent="0">
              <a:buNone/>
            </a:pPr>
            <a:r>
              <a:rPr lang="en-US" sz="2800" dirty="0"/>
              <a:t>Components of a</a:t>
            </a:r>
            <a:r>
              <a:rPr sz="2800" dirty="0"/>
              <a:t> Time Series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83723" y="929369"/>
            <a:ext cx="4678134" cy="3518297"/>
          </a:xfrm>
        </p:spPr>
        <p:txBody>
          <a:bodyPr>
            <a:normAutofit fontScale="70000" lnSpcReduction="20000"/>
          </a:bodyPr>
          <a:lstStyle/>
          <a:p>
            <a:pPr lvl="0"/>
            <a:r>
              <a:rPr lang="en-US" altLang="en-US" sz="1600" dirty="0"/>
              <a:t> </a:t>
            </a:r>
            <a:r>
              <a:rPr lang="en-US" altLang="en-US" sz="2600" dirty="0"/>
              <a:t>A time series is made up of one or more components of the following :</a:t>
            </a:r>
          </a:p>
          <a:p>
            <a:pPr lvl="0"/>
            <a:endParaRPr lang="en-US" sz="2600" b="1" dirty="0"/>
          </a:p>
          <a:p>
            <a:pPr lvl="0"/>
            <a:r>
              <a:rPr lang="en-US" sz="2600" b="1" dirty="0"/>
              <a:t>1). </a:t>
            </a:r>
            <a:r>
              <a:rPr sz="2600" b="1" dirty="0"/>
              <a:t>Trend</a:t>
            </a:r>
          </a:p>
          <a:p>
            <a:pPr marL="285750" lvl="0" indent="-285750">
              <a:buFont typeface="Wingdings" panose="05000000000000000000" pitchFamily="2" charset="2"/>
              <a:buChar char="§"/>
            </a:pPr>
            <a:r>
              <a:rPr sz="2600" dirty="0"/>
              <a:t>The general direction in which the series is running during a long period</a:t>
            </a:r>
            <a:endParaRPr lang="en-US" sz="2600" dirty="0"/>
          </a:p>
          <a:p>
            <a:pPr marL="285750" lvl="0" indent="-285750">
              <a:buFont typeface="Wingdings" panose="05000000000000000000" pitchFamily="2" charset="2"/>
              <a:buChar char="§"/>
            </a:pPr>
            <a:endParaRPr lang="en-US" sz="2600" dirty="0"/>
          </a:p>
          <a:p>
            <a:pPr marL="285750" lvl="0" indent="-285750">
              <a:buFont typeface="Wingdings" panose="05000000000000000000" pitchFamily="2" charset="2"/>
              <a:buChar char="§"/>
            </a:pPr>
            <a:r>
              <a:rPr sz="2600" dirty="0"/>
              <a:t>A TREND exists when there is a long-term increase or decrease in the data.</a:t>
            </a:r>
            <a:endParaRPr lang="en-US" sz="2600" dirty="0"/>
          </a:p>
          <a:p>
            <a:pPr marL="285750" lvl="0" indent="-285750">
              <a:buFont typeface="Wingdings" panose="05000000000000000000" pitchFamily="2" charset="2"/>
              <a:buChar char="§"/>
            </a:pPr>
            <a:endParaRPr lang="en-US" sz="2600" dirty="0"/>
          </a:p>
          <a:p>
            <a:pPr marL="285750" lvl="0" indent="-285750">
              <a:buFont typeface="Wingdings" panose="05000000000000000000" pitchFamily="2" charset="2"/>
              <a:buChar char="§"/>
            </a:pPr>
            <a:r>
              <a:rPr sz="2600" dirty="0"/>
              <a:t>It does not have to be necessarily linear (could be exponential or others functional form).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AAC9EAD-3388-0E19-B1E1-3C479BC1D4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18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6541C6F-65AD-A837-635D-23EAA0A0BC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0406" y="1088572"/>
            <a:ext cx="3845251" cy="286494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65705" y="932703"/>
            <a:ext cx="3669482" cy="3518297"/>
          </a:xfrm>
        </p:spPr>
        <p:txBody>
          <a:bodyPr>
            <a:noAutofit/>
          </a:bodyPr>
          <a:lstStyle/>
          <a:p>
            <a:pPr marL="0" lvl="0" indent="0">
              <a:buNone/>
            </a:pPr>
            <a:r>
              <a:rPr lang="en-US" sz="1800" b="1" dirty="0"/>
              <a:t>2). </a:t>
            </a:r>
            <a:r>
              <a:rPr sz="1800" b="1" dirty="0"/>
              <a:t>S</a:t>
            </a:r>
            <a:r>
              <a:rPr lang="en-US" sz="1800" b="1" dirty="0"/>
              <a:t>easonal effects</a:t>
            </a:r>
          </a:p>
          <a:p>
            <a:pPr marL="171450" lvl="0" indent="-171450">
              <a:buFont typeface="Wingdings" panose="05000000000000000000" pitchFamily="2" charset="2"/>
              <a:buChar char="§"/>
            </a:pPr>
            <a:r>
              <a:rPr lang="en-US" sz="1800" dirty="0"/>
              <a:t>Short-term fluctuations that occur regularly – often associated with months or quarters</a:t>
            </a:r>
          </a:p>
          <a:p>
            <a:pPr marL="171450" lvl="0" indent="-171450">
              <a:buFont typeface="Wingdings" panose="05000000000000000000" pitchFamily="2" charset="2"/>
              <a:buChar char="§"/>
            </a:pPr>
            <a:endParaRPr lang="en-US" sz="1800" dirty="0"/>
          </a:p>
          <a:p>
            <a:pPr marL="171450" lvl="0" indent="-171450">
              <a:buFont typeface="Wingdings" panose="05000000000000000000" pitchFamily="2" charset="2"/>
              <a:buChar char="§"/>
            </a:pPr>
            <a:r>
              <a:rPr sz="1800" dirty="0"/>
              <a:t>A SEASONAL PATTERN exists when a series is influenced by seasonal factors (e.g., the quarter of the year, the month, day of the week).</a:t>
            </a:r>
            <a:endParaRPr lang="en-US" sz="1800" dirty="0"/>
          </a:p>
          <a:p>
            <a:pPr marL="171450" lvl="0" indent="-171450">
              <a:buFont typeface="Wingdings" panose="05000000000000000000" pitchFamily="2" charset="2"/>
              <a:buChar char="§"/>
            </a:pPr>
            <a:endParaRPr lang="en-US" sz="1800" dirty="0"/>
          </a:p>
          <a:p>
            <a:pPr marL="171450" lvl="0" indent="-171450">
              <a:buFont typeface="Wingdings" panose="05000000000000000000" pitchFamily="2" charset="2"/>
              <a:buChar char="§"/>
            </a:pPr>
            <a:r>
              <a:rPr sz="1800" dirty="0"/>
              <a:t>Seasonality is always of a fixed and known period.</a:t>
            </a:r>
          </a:p>
        </p:txBody>
      </p:sp>
      <p:pic>
        <p:nvPicPr>
          <p:cNvPr id="2" name="Picture 1" descr="Introduction_TS_files/figure-pptx/unnamed-chunk-10-1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935187" y="932704"/>
            <a:ext cx="5094556" cy="3518296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93C2FCB0-6669-0D6E-4F3D-2438F6FDE4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1" y="204787"/>
            <a:ext cx="6188528" cy="465454"/>
          </a:xfrm>
        </p:spPr>
        <p:txBody>
          <a:bodyPr>
            <a:noAutofit/>
          </a:bodyPr>
          <a:lstStyle/>
          <a:p>
            <a:pPr lvl="0"/>
            <a:r>
              <a:rPr lang="en-US" sz="2800" dirty="0"/>
              <a:t>Components of a Time Series </a:t>
            </a:r>
            <a:endParaRPr sz="28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8101171-E5FD-83B9-0E89-D7EB9FBBD5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19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85389" y="851317"/>
            <a:ext cx="4186611" cy="3518297"/>
          </a:xfrm>
        </p:spPr>
        <p:txBody>
          <a:bodyPr>
            <a:noAutofit/>
          </a:bodyPr>
          <a:lstStyle/>
          <a:p>
            <a:pPr marL="0" lvl="0" indent="0">
              <a:buNone/>
            </a:pPr>
            <a:r>
              <a:rPr lang="en-US" sz="1800" b="1" dirty="0"/>
              <a:t>3). </a:t>
            </a:r>
            <a:r>
              <a:rPr sz="1800" b="1" dirty="0"/>
              <a:t>CYCLE</a:t>
            </a:r>
          </a:p>
          <a:p>
            <a:pPr marL="285750" lvl="0" indent="-285750">
              <a:buFont typeface="Wingdings" panose="05000000000000000000" pitchFamily="2" charset="2"/>
              <a:buChar char="§"/>
            </a:pPr>
            <a:r>
              <a:rPr sz="1800" dirty="0"/>
              <a:t>Long-term fluctuations that occur regularly in the series </a:t>
            </a:r>
            <a:endParaRPr lang="en-US" sz="1800" dirty="0"/>
          </a:p>
          <a:p>
            <a:pPr marL="285750" lvl="0" indent="-285750">
              <a:buFont typeface="Wingdings" panose="05000000000000000000" pitchFamily="2" charset="2"/>
              <a:buChar char="§"/>
            </a:pPr>
            <a:endParaRPr lang="en-US" sz="1800" dirty="0"/>
          </a:p>
          <a:p>
            <a:pPr marL="285750" lvl="0" indent="-285750">
              <a:buFont typeface="Wingdings" panose="05000000000000000000" pitchFamily="2" charset="2"/>
              <a:buChar char="§"/>
            </a:pPr>
            <a:r>
              <a:rPr sz="1800" dirty="0"/>
              <a:t>A CYCLE is an oscillatory component (i.e. Upward or Downward swings) which is repeated after a certain number of years, so:</a:t>
            </a:r>
            <a:endParaRPr lang="en-US" sz="1800" dirty="0"/>
          </a:p>
          <a:p>
            <a:pPr marL="285750" lvl="0" indent="-285750">
              <a:buFont typeface="Wingdings" panose="05000000000000000000" pitchFamily="2" charset="2"/>
              <a:buChar char="§"/>
            </a:pPr>
            <a:endParaRPr lang="en-US" sz="1800" dirty="0"/>
          </a:p>
          <a:p>
            <a:pPr marL="285750" lvl="0" indent="-285750">
              <a:buFont typeface="Wingdings" panose="05000000000000000000" pitchFamily="2" charset="2"/>
              <a:buChar char="§"/>
            </a:pPr>
            <a:r>
              <a:rPr sz="1800" dirty="0"/>
              <a:t>May vary in length and usually lasts several years (from 2 up to 20/30)</a:t>
            </a:r>
            <a:r>
              <a:rPr lang="en-US" sz="1800" dirty="0"/>
              <a:t> </a:t>
            </a:r>
            <a:r>
              <a:rPr sz="1800" dirty="0"/>
              <a:t>Difficult to detect, because it is often confused with the trend component</a:t>
            </a:r>
          </a:p>
        </p:txBody>
      </p:sp>
      <p:pic>
        <p:nvPicPr>
          <p:cNvPr id="2" name="Picture 1" descr="Introduction_TS_files/figure-pptx/unnamed-chunk-11-1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490613" y="1117600"/>
            <a:ext cx="4267997" cy="3252014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86042AC2-D0A9-520A-8F08-BD7BA96350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1" y="204787"/>
            <a:ext cx="6213020" cy="465454"/>
          </a:xfrm>
        </p:spPr>
        <p:txBody>
          <a:bodyPr>
            <a:noAutofit/>
          </a:bodyPr>
          <a:lstStyle/>
          <a:p>
            <a:pPr lvl="0"/>
            <a:r>
              <a:rPr lang="en-US" sz="2800" dirty="0"/>
              <a:t>Components of a Time Series </a:t>
            </a:r>
            <a:endParaRPr sz="28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6FF004D-8EB4-067C-ACBA-5DBD7007EE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20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4148311" cy="3518297"/>
          </a:xfrm>
        </p:spPr>
        <p:txBody>
          <a:bodyPr>
            <a:noAutofit/>
          </a:bodyPr>
          <a:lstStyle/>
          <a:p>
            <a:pPr marL="0" lvl="0" indent="0">
              <a:buNone/>
            </a:pPr>
            <a:r>
              <a:rPr lang="en-US" sz="1800" b="1" dirty="0"/>
              <a:t>4). </a:t>
            </a:r>
            <a:r>
              <a:rPr sz="1800" b="1" dirty="0"/>
              <a:t>RESIDUAL</a:t>
            </a:r>
          </a:p>
          <a:p>
            <a:pPr marL="285750" lvl="0" indent="-285750">
              <a:buFont typeface="Wingdings" panose="05000000000000000000" pitchFamily="2" charset="2"/>
              <a:buChar char="§"/>
            </a:pPr>
            <a:r>
              <a:rPr sz="1800" dirty="0"/>
              <a:t>Whatever remains after the other components have been taken into account</a:t>
            </a:r>
            <a:endParaRPr lang="en-US" sz="1800" dirty="0"/>
          </a:p>
          <a:p>
            <a:pPr marL="285750" lvl="0" indent="-285750">
              <a:buFont typeface="Wingdings" panose="05000000000000000000" pitchFamily="2" charset="2"/>
              <a:buChar char="§"/>
            </a:pPr>
            <a:r>
              <a:rPr sz="1800" dirty="0"/>
              <a:t>The residual/error component is everything that is not considered in previous components</a:t>
            </a:r>
            <a:endParaRPr lang="en-US" sz="1800" dirty="0"/>
          </a:p>
          <a:p>
            <a:pPr marL="285750" lvl="0" indent="-285750">
              <a:buFont typeface="Wingdings" panose="05000000000000000000" pitchFamily="2" charset="2"/>
              <a:buChar char="§"/>
            </a:pPr>
            <a:endParaRPr lang="en-US" sz="1800" dirty="0"/>
          </a:p>
          <a:p>
            <a:pPr marL="285750" lvl="0" indent="-285750">
              <a:buFont typeface="Wingdings" panose="05000000000000000000" pitchFamily="2" charset="2"/>
              <a:buChar char="§"/>
            </a:pPr>
            <a:r>
              <a:rPr sz="1800" dirty="0"/>
              <a:t>Typically, it is assumed to be the sum of a set of random factors (e.g. a white noise series) not relevant for describing the dynamics of the series</a:t>
            </a:r>
          </a:p>
        </p:txBody>
      </p:sp>
      <p:pic>
        <p:nvPicPr>
          <p:cNvPr id="2" name="Picture 1" descr="Introduction_TS_files/figure-pptx/unnamed-chunk-12-1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672535" y="1222924"/>
            <a:ext cx="4259194" cy="3371699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0816EFD9-018F-76D8-AEC1-99FD21D920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1" y="204787"/>
            <a:ext cx="5105400" cy="465454"/>
          </a:xfrm>
        </p:spPr>
        <p:txBody>
          <a:bodyPr>
            <a:noAutofit/>
          </a:bodyPr>
          <a:lstStyle/>
          <a:p>
            <a:pPr lvl="0"/>
            <a:r>
              <a:rPr lang="en-US" sz="2800" dirty="0"/>
              <a:t>Components of a Time Series </a:t>
            </a:r>
            <a:endParaRPr sz="28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D937863-C11E-6220-0718-D3CB8D12FE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21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D7A03B6-2E66-3DD0-AF68-0278B734594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48292" y="593436"/>
                <a:ext cx="5631556" cy="4550064"/>
              </a:xfrm>
            </p:spPr>
            <p:txBody>
              <a:bodyPr>
                <a:noAutofit/>
              </a:bodyPr>
              <a:lstStyle/>
              <a:p>
                <a:pPr marL="0" indent="0">
                  <a:buNone/>
                </a:pPr>
                <a:r>
                  <a:rPr lang="fr-FR" dirty="0"/>
                  <a:t>The four components are </a:t>
                </a:r>
                <a:r>
                  <a:rPr lang="fr-FR" dirty="0" err="1"/>
                  <a:t>combined</a:t>
                </a:r>
                <a:r>
                  <a:rPr lang="fr-FR" dirty="0"/>
                  <a:t> in the additive time </a:t>
                </a:r>
                <a:r>
                  <a:rPr lang="fr-FR" dirty="0" err="1"/>
                  <a:t>series</a:t>
                </a:r>
                <a:r>
                  <a:rPr lang="fr-FR" dirty="0"/>
                  <a:t> model as follow: </a:t>
                </a:r>
              </a:p>
              <a:p>
                <a:pPr marL="0" indent="0">
                  <a:buNone/>
                </a:pPr>
                <a:endParaRPr lang="fr-FR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fr-F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fr-F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fr-F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fr-F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where;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 </m:t>
                    </m:r>
                  </m:oMath>
                </a14:m>
                <a:r>
                  <a:rPr lang="en-US" dirty="0"/>
                  <a:t> is the actual value </a:t>
                </a:r>
              </a:p>
              <a:p>
                <a:pPr marL="0" indent="0">
                  <a:buNone/>
                </a:pPr>
                <a:r>
                  <a:rPr lang="en-US" dirty="0"/>
                  <a:t>       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b="0" i="0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dirty="0"/>
                  <a:t> trend/long-term movement          </a:t>
                </a:r>
              </a:p>
              <a:p>
                <a:pPr marL="0" indent="0">
                  <a:buNone/>
                </a:pPr>
                <a:r>
                  <a:rPr lang="fr-FR" dirty="0"/>
                  <a:t>       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dirty="0"/>
                  <a:t> seasonal movement </a:t>
                </a:r>
              </a:p>
              <a:p>
                <a:pPr marL="0" indent="0">
                  <a:buNone/>
                </a:pPr>
                <a:r>
                  <a:rPr lang="fr-FR" dirty="0"/>
                  <a:t>      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dirty="0"/>
                  <a:t> Cyclical movement </a:t>
                </a:r>
              </a:p>
              <a:p>
                <a:pPr marL="0" indent="0">
                  <a:buNone/>
                </a:pPr>
                <a:r>
                  <a:rPr lang="fr-FR" dirty="0"/>
                  <a:t>     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b="0" i="0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dirty="0"/>
                  <a:t> is residual/random movement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D7A03B6-2E66-3DD0-AF68-0278B734594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48292" y="593436"/>
                <a:ext cx="5631556" cy="4550064"/>
              </a:xfrm>
              <a:blipFill>
                <a:blip r:embed="rId2"/>
                <a:stretch>
                  <a:fillRect l="-1623" t="-1071" r="-768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itle 1">
            <a:extLst>
              <a:ext uri="{FF2B5EF4-FFF2-40B4-BE49-F238E27FC236}">
                <a16:creationId xmlns:a16="http://schemas.microsoft.com/office/drawing/2014/main" id="{16655603-013C-66B8-5FE0-DDD9C6B1C2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1" y="114979"/>
            <a:ext cx="5105400" cy="465454"/>
          </a:xfrm>
        </p:spPr>
        <p:txBody>
          <a:bodyPr>
            <a:noAutofit/>
          </a:bodyPr>
          <a:lstStyle/>
          <a:p>
            <a:pPr lvl="0"/>
            <a:r>
              <a:rPr lang="en-US" sz="2800" dirty="0"/>
              <a:t>Components of a Time Series </a:t>
            </a:r>
            <a:endParaRPr sz="280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72F2234-677E-8664-A04A-A3DBD292E2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373910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76441" y="558867"/>
            <a:ext cx="5253620" cy="3518297"/>
          </a:xfrm>
        </p:spPr>
        <p:txBody>
          <a:bodyPr>
            <a:normAutofit/>
          </a:bodyPr>
          <a:lstStyle/>
          <a:p>
            <a:pPr lvl="0"/>
            <a:r>
              <a:rPr lang="en-US" sz="1800" b="1" dirty="0"/>
              <a:t>Task &amp; Dataset</a:t>
            </a:r>
            <a:r>
              <a:rPr sz="1800" b="1" dirty="0"/>
              <a:t>:</a:t>
            </a:r>
          </a:p>
          <a:p>
            <a:pPr marL="285750" lvl="0" indent="-285750">
              <a:buFont typeface="Wingdings" panose="05000000000000000000" pitchFamily="2" charset="2"/>
              <a:buChar char="§"/>
            </a:pPr>
            <a:r>
              <a:rPr lang="en-US" sz="1800" dirty="0"/>
              <a:t> </a:t>
            </a:r>
            <a:r>
              <a:rPr sz="1800" dirty="0"/>
              <a:t>From the R package </a:t>
            </a:r>
            <a:r>
              <a:rPr sz="1800" b="1" dirty="0"/>
              <a:t>fpp2</a:t>
            </a:r>
            <a:r>
              <a:rPr sz="1800" dirty="0"/>
              <a:t> in R, load the quarterly beer production data in Australia.</a:t>
            </a:r>
            <a:endParaRPr lang="en-US" sz="1800" dirty="0"/>
          </a:p>
          <a:p>
            <a:pPr marL="285750" lvl="0" indent="-285750">
              <a:buFont typeface="Wingdings" panose="05000000000000000000" pitchFamily="2" charset="2"/>
              <a:buChar char="§"/>
            </a:pPr>
            <a:r>
              <a:rPr sz="1800" dirty="0"/>
              <a:t>plot the time series plot of the data</a:t>
            </a:r>
            <a:endParaRPr lang="en-US" sz="1800" dirty="0"/>
          </a:p>
          <a:p>
            <a:pPr marL="285750" lvl="0" indent="-285750">
              <a:buFont typeface="Wingdings" panose="05000000000000000000" pitchFamily="2" charset="2"/>
              <a:buChar char="§"/>
            </a:pPr>
            <a:r>
              <a:rPr sz="1800" dirty="0"/>
              <a:t>find the trend, seasonality, and noise of the quarterly beer production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C151206-0F7E-AD3D-0B28-72C32C8C09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169674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2B21C9-C41B-E37B-AFB9-C383A939F7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ntroduction_TS_files/figure-pptx/unnamed-chunk-13-1.png">
            <a:extLst>
              <a:ext uri="{FF2B5EF4-FFF2-40B4-BE49-F238E27FC236}">
                <a16:creationId xmlns:a16="http://schemas.microsoft.com/office/drawing/2014/main" id="{18A33136-AD40-B25B-519C-AA60EF14EFD5}"/>
              </a:ext>
            </a:extLst>
          </p:cNvPr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596277" y="1015019"/>
            <a:ext cx="5105400" cy="25527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FD69016-1F62-E179-F8E3-E722298E2EA2}"/>
              </a:ext>
            </a:extLst>
          </p:cNvPr>
          <p:cNvSpPr txBox="1"/>
          <p:nvPr/>
        </p:nvSpPr>
        <p:spPr>
          <a:xfrm>
            <a:off x="1864706" y="645687"/>
            <a:ext cx="50627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/>
              <a:t>Fig. The quarterly beer production data in Australia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FB3BCF2-2397-0DD9-2F8B-A521289F6D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719774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73708" y="314702"/>
            <a:ext cx="5440918" cy="527464"/>
          </a:xfrm>
        </p:spPr>
        <p:txBody>
          <a:bodyPr>
            <a:noAutofit/>
          </a:bodyPr>
          <a:lstStyle/>
          <a:p>
            <a:pPr marL="0" lvl="0" indent="0">
              <a:buNone/>
            </a:pPr>
            <a:r>
              <a:rPr sz="2400" dirty="0"/>
              <a:t>The time series decomposition of the quarterly beer production in Australia:</a:t>
            </a:r>
          </a:p>
        </p:txBody>
      </p:sp>
      <p:pic>
        <p:nvPicPr>
          <p:cNvPr id="2" name="Picture 1" descr="Introduction_TS_files/figure-pptx/unnamed-chunk-14-1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107959" y="1652511"/>
            <a:ext cx="5105400" cy="2600041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51DDF7D-9D5A-1163-F799-9644F72F9B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580214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3FE399-DE45-5285-A66C-2FA2169991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A58937-75E5-BF7F-7F33-6D14AD32DB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3041" y="130175"/>
            <a:ext cx="6155102" cy="857250"/>
          </a:xfrm>
        </p:spPr>
        <p:txBody>
          <a:bodyPr/>
          <a:lstStyle/>
          <a:p>
            <a:pPr lvl="0"/>
            <a:r>
              <a:rPr lang="en-US" dirty="0"/>
              <a:t>Some Time series Terms </a:t>
            </a:r>
            <a:endParaRPr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206E90C-0E2F-AFC2-EACE-196D816FF888}"/>
              </a:ext>
            </a:extLst>
          </p:cNvPr>
          <p:cNvSpPr txBox="1"/>
          <p:nvPr/>
        </p:nvSpPr>
        <p:spPr>
          <a:xfrm>
            <a:off x="373869" y="1260845"/>
            <a:ext cx="3646425" cy="32316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hangingPunct="1"/>
            <a:r>
              <a:rPr lang="en-US" altLang="en-US" sz="2400" b="1" dirty="0"/>
              <a:t>Stationary Data </a:t>
            </a:r>
            <a:r>
              <a:rPr lang="en-US" altLang="en-US" sz="2400" dirty="0"/>
              <a:t>- a time series variable exhibiting no significant upward or downward trend over time.</a:t>
            </a:r>
          </a:p>
          <a:p>
            <a:endParaRPr lang="en-US" sz="2400" dirty="0"/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 dirty="0"/>
              <a:t>A Stationary time series data has constant means, variance and autocovariance overtime.</a:t>
            </a:r>
          </a:p>
          <a:p>
            <a:pPr eaLnBrk="1" hangingPunct="1"/>
            <a:endParaRPr lang="en-US" altLang="en-US" sz="24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75F70EE-6697-03DE-256C-2F5C37BA23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26</a:t>
            </a:fld>
            <a:endParaRPr lang="en-US"/>
          </a:p>
        </p:txBody>
      </p:sp>
      <p:pic>
        <p:nvPicPr>
          <p:cNvPr id="4" name="Picture 3" descr="Introduction_TS_files/figure-pptx/unnamed-chunk-16-1.png">
            <a:extLst>
              <a:ext uri="{FF2B5EF4-FFF2-40B4-BE49-F238E27FC236}">
                <a16:creationId xmlns:a16="http://schemas.microsoft.com/office/drawing/2014/main" id="{A885EF6B-5903-2CB8-AC28-E08A7586600B}"/>
              </a:ext>
            </a:extLst>
          </p:cNvPr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01509" y="1069159"/>
            <a:ext cx="3549366" cy="2721262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75260677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3041" y="130175"/>
            <a:ext cx="5283035" cy="857250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Some Time series Terms </a:t>
            </a:r>
            <a:endParaRPr dirty="0"/>
          </a:p>
        </p:txBody>
      </p:sp>
      <p:pic>
        <p:nvPicPr>
          <p:cNvPr id="3" name="Picture 1" descr="Introduction_TS_files/figure-pptx/unnamed-chunk-15-1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327841" y="1097648"/>
            <a:ext cx="3582397" cy="2760621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F8E2F-2704-1C05-9341-25B367974E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27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98F8B27-8997-3B3A-7215-8ECBAB5A4BDF}"/>
              </a:ext>
            </a:extLst>
          </p:cNvPr>
          <p:cNvSpPr txBox="1"/>
          <p:nvPr/>
        </p:nvSpPr>
        <p:spPr>
          <a:xfrm>
            <a:off x="733053" y="1382673"/>
            <a:ext cx="3326109" cy="3724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hangingPunct="1"/>
            <a:r>
              <a:rPr lang="en-US" altLang="en-US" sz="2400" b="1" dirty="0"/>
              <a:t>Nonstationary Data </a:t>
            </a:r>
            <a:r>
              <a:rPr lang="en-US" altLang="en-US" sz="2400" dirty="0"/>
              <a:t>- a time series variable exhibiting a significant upward or downward trend over time.</a:t>
            </a:r>
          </a:p>
          <a:p>
            <a:pPr eaLnBrk="1" hangingPunct="1"/>
            <a:endParaRPr lang="en-US" altLang="en-US" sz="1800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000" dirty="0"/>
              <a:t>Non-stationary time series data has means and variances that change over time</a:t>
            </a:r>
          </a:p>
          <a:p>
            <a:pPr eaLnBrk="1" hangingPunct="1"/>
            <a:endParaRPr lang="en-US" altLang="en-US" sz="1800" dirty="0"/>
          </a:p>
        </p:txBody>
      </p:sp>
    </p:spTree>
    <p:extLst>
      <p:ext uri="{BB962C8B-B14F-4D97-AF65-F5344CB8AC3E}">
        <p14:creationId xmlns:p14="http://schemas.microsoft.com/office/powerpoint/2010/main" val="398017121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>
            <a:extLst>
              <a:ext uri="{FF2B5EF4-FFF2-40B4-BE49-F238E27FC236}">
                <a16:creationId xmlns:a16="http://schemas.microsoft.com/office/drawing/2014/main" id="{10436BB5-E0E7-EEFF-8776-A9E191A6C59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26572" y="352936"/>
            <a:ext cx="5543550" cy="564356"/>
          </a:xfrm>
        </p:spPr>
        <p:txBody>
          <a:bodyPr vert="horz" lIns="69056" tIns="34529" rIns="69056" bIns="34529" rtlCol="0" anchor="ctr">
            <a:normAutofit/>
          </a:bodyPr>
          <a:lstStyle/>
          <a:p>
            <a:pPr eaLnBrk="1" hangingPunct="1"/>
            <a:r>
              <a:rPr lang="en-US" altLang="en-US" sz="3000" i="1" dirty="0"/>
              <a:t>Approaching Time Series Analysis</a:t>
            </a:r>
          </a:p>
        </p:txBody>
      </p:sp>
      <p:sp>
        <p:nvSpPr>
          <p:cNvPr id="18435" name="Rectangle 3">
            <a:extLst>
              <a:ext uri="{FF2B5EF4-FFF2-40B4-BE49-F238E27FC236}">
                <a16:creationId xmlns:a16="http://schemas.microsoft.com/office/drawing/2014/main" id="{A1011DB8-1C48-19D9-2F81-B38A4ED6442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54660" y="1044178"/>
            <a:ext cx="6997303" cy="3055144"/>
          </a:xfrm>
        </p:spPr>
        <p:txBody>
          <a:bodyPr vert="horz" lIns="69056" tIns="34529" rIns="69056" bIns="34529" rtlCol="0">
            <a:noAutofit/>
          </a:bodyPr>
          <a:lstStyle/>
          <a:p>
            <a:pPr eaLnBrk="1" hangingPunct="1"/>
            <a:r>
              <a:rPr lang="en-US" altLang="en-US" dirty="0"/>
              <a:t>There are many, many different time series techniques/models.</a:t>
            </a:r>
          </a:p>
          <a:p>
            <a:pPr eaLnBrk="1" hangingPunct="1"/>
            <a:r>
              <a:rPr lang="en-US" altLang="en-US" dirty="0"/>
              <a:t>It is usually impossible to know which technique will be best for a particular data set.</a:t>
            </a:r>
          </a:p>
          <a:p>
            <a:pPr eaLnBrk="1" hangingPunct="1"/>
            <a:r>
              <a:rPr lang="en-US" altLang="en-US" dirty="0"/>
              <a:t>It is customary to try out several different techniques and select the one that seems to work best.</a:t>
            </a:r>
          </a:p>
          <a:p>
            <a:pPr eaLnBrk="1" hangingPunct="1"/>
            <a:r>
              <a:rPr lang="en-US" altLang="en-US" dirty="0"/>
              <a:t>To be an effective time series modeler, you need to keep several time series techniques in your “tool box.”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DF96131-9904-E8FC-1521-B2E4EFEEBA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44796" y="804111"/>
            <a:ext cx="6247927" cy="3394472"/>
          </a:xfrm>
        </p:spPr>
        <p:txBody>
          <a:bodyPr/>
          <a:lstStyle/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lang="en-US" altLang="en-US" dirty="0">
              <a:latin typeface="Arial" panose="020B0604020202020204" pitchFamily="34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-"/>
            </a:pPr>
            <a:r>
              <a:rPr lang="en-US" altLang="en-US" sz="2000" dirty="0">
                <a:latin typeface="Arial" panose="020B0604020202020204" pitchFamily="34" charset="0"/>
              </a:rPr>
              <a:t>Download annual CO₂ emissions data from </a:t>
            </a:r>
            <a:r>
              <a:rPr lang="en-US" altLang="en-US" sz="2000" i="1" dirty="0">
                <a:latin typeface="Arial" panose="020B0604020202020204" pitchFamily="34" charset="0"/>
              </a:rPr>
              <a:t>Our 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000" i="1" dirty="0">
                <a:latin typeface="Arial" panose="020B0604020202020204" pitchFamily="34" charset="0"/>
              </a:rPr>
              <a:t>       World in Data:</a:t>
            </a:r>
            <a:r>
              <a:rPr lang="en-US" altLang="en-US" sz="2000" dirty="0">
                <a:latin typeface="Arial" panose="020B0604020202020204" pitchFamily="34" charset="0"/>
              </a:rPr>
              <a:t> 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000" dirty="0">
                <a:latin typeface="Arial" panose="020B0604020202020204" pitchFamily="34" charset="0"/>
              </a:rPr>
              <a:t>      (</a:t>
            </a:r>
            <a:r>
              <a:rPr lang="en-US" altLang="en-US" sz="2000" dirty="0">
                <a:latin typeface="Arial" panose="020B0604020202020204" pitchFamily="34" charset="0"/>
                <a:hlinkClick r:id="rId2"/>
              </a:rPr>
              <a:t>https://ourworldindata.org/co2-emissions</a:t>
            </a:r>
            <a:r>
              <a:rPr lang="en-US" altLang="en-US" sz="2000" dirty="0">
                <a:latin typeface="Arial" panose="020B0604020202020204" pitchFamily="34" charset="0"/>
              </a:rPr>
              <a:t>).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2000" dirty="0">
              <a:latin typeface="Arial" panose="020B0604020202020204" pitchFamily="34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-"/>
            </a:pPr>
            <a:r>
              <a:rPr lang="en-US" altLang="en-US" sz="2000" dirty="0">
                <a:latin typeface="Arial" panose="020B0604020202020204" pitchFamily="34" charset="0"/>
              </a:rPr>
              <a:t>Construct time-series plots of annual CO₂ emissions for the world and for Norway from 1960 t0 2024.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-"/>
            </a:pPr>
            <a:endParaRPr lang="en-US" altLang="en-US" sz="2000" dirty="0">
              <a:latin typeface="Arial" panose="020B0604020202020204" pitchFamily="34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-"/>
            </a:pPr>
            <a:r>
              <a:rPr lang="en-US" sz="2000" dirty="0"/>
              <a:t>Describe the main pattern of the plot.</a:t>
            </a:r>
            <a:endParaRPr lang="en-US" altLang="en-US" sz="2000" dirty="0">
              <a:latin typeface="Arial" panose="020B0604020202020204" pitchFamily="34" charset="0"/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b="1" dirty="0"/>
          </a:p>
          <a:p>
            <a:pPr marL="0" lvl="0" indent="0">
              <a:buNone/>
            </a:pPr>
            <a:endParaRPr b="1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68F52B4-E755-AC4E-523E-6429BBC391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29</a:t>
            </a:fld>
            <a:endParaRPr lang="en-US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11EB0741-D86C-79B4-7A52-B73DE828CD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32893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8F31D62E-D9DB-FCB6-57B1-1842A031648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26572" y="184666"/>
            <a:ext cx="5543550" cy="564356"/>
          </a:xfrm>
        </p:spPr>
        <p:txBody>
          <a:bodyPr vert="horz" lIns="69056" tIns="34529" rIns="69056" bIns="34529" rtlCol="0" anchor="ctr">
            <a:normAutofit/>
          </a:bodyPr>
          <a:lstStyle/>
          <a:p>
            <a:pPr algn="l" defTabSz="914400" eaLnBrk="0" fontAlgn="base" hangingPunct="0">
              <a:spcAft>
                <a:spcPct val="0"/>
              </a:spcAft>
            </a:pPr>
            <a:r>
              <a:rPr lang="en-US" sz="3200" b="1" dirty="0"/>
              <a:t>Task &amp; Dataset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207B02-61B7-A1F4-29B5-D5801E85AA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F30396-AA8B-F700-68FB-C91901FBDE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4796" y="804111"/>
            <a:ext cx="6247927" cy="3394472"/>
          </a:xfrm>
        </p:spPr>
        <p:txBody>
          <a:bodyPr/>
          <a:lstStyle/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lang="en-US" altLang="en-US" dirty="0">
              <a:latin typeface="Arial" panose="020B0604020202020204" pitchFamily="34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-"/>
            </a:pPr>
            <a:r>
              <a:rPr lang="en-US" altLang="en-US" sz="2000" dirty="0">
                <a:latin typeface="Arial" panose="020B0604020202020204" pitchFamily="34" charset="0"/>
              </a:rPr>
              <a:t>Download annual CO₂ emissions data from </a:t>
            </a:r>
            <a:r>
              <a:rPr lang="en-US" altLang="en-US" sz="2000" i="1" dirty="0">
                <a:latin typeface="Arial" panose="020B0604020202020204" pitchFamily="34" charset="0"/>
              </a:rPr>
              <a:t>Our 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000" i="1" dirty="0">
                <a:latin typeface="Arial" panose="020B0604020202020204" pitchFamily="34" charset="0"/>
              </a:rPr>
              <a:t>       World in Data:</a:t>
            </a:r>
            <a:r>
              <a:rPr lang="en-US" altLang="en-US" sz="2000" dirty="0">
                <a:latin typeface="Arial" panose="020B0604020202020204" pitchFamily="34" charset="0"/>
              </a:rPr>
              <a:t> 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000" dirty="0">
                <a:latin typeface="Arial" panose="020B0604020202020204" pitchFamily="34" charset="0"/>
              </a:rPr>
              <a:t>      (</a:t>
            </a:r>
            <a:r>
              <a:rPr lang="en-US" altLang="en-US" sz="2000" dirty="0">
                <a:latin typeface="Arial" panose="020B0604020202020204" pitchFamily="34" charset="0"/>
                <a:hlinkClick r:id="rId2"/>
              </a:rPr>
              <a:t>https://ourworldindata.org/co2-emissions</a:t>
            </a:r>
            <a:r>
              <a:rPr lang="en-US" altLang="en-US" sz="2000" dirty="0">
                <a:latin typeface="Arial" panose="020B0604020202020204" pitchFamily="34" charset="0"/>
              </a:rPr>
              <a:t>).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2000" dirty="0">
              <a:latin typeface="Arial" panose="020B0604020202020204" pitchFamily="34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-"/>
            </a:pPr>
            <a:r>
              <a:rPr lang="en-US" altLang="en-US" sz="2000" dirty="0">
                <a:latin typeface="Arial" panose="020B0604020202020204" pitchFamily="34" charset="0"/>
              </a:rPr>
              <a:t>Construct time-series plots of annual CO₂ emissions for the world and for Norway from 1960 t0 2024.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-"/>
            </a:pPr>
            <a:endParaRPr lang="en-US" altLang="en-US" sz="2000" dirty="0">
              <a:latin typeface="Arial" panose="020B0604020202020204" pitchFamily="34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-"/>
            </a:pPr>
            <a:r>
              <a:rPr lang="en-US" sz="2000" dirty="0"/>
              <a:t>Describe the main pattern of the plot.</a:t>
            </a:r>
            <a:endParaRPr lang="en-US" altLang="en-US" sz="2000" dirty="0">
              <a:latin typeface="Arial" panose="020B0604020202020204" pitchFamily="34" charset="0"/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b="1" dirty="0"/>
          </a:p>
          <a:p>
            <a:pPr marL="0" lvl="0" indent="0">
              <a:buNone/>
            </a:pPr>
            <a:endParaRPr b="1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8B83A34-6986-E27B-ACE4-8CDF1CF462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30</a:t>
            </a:fld>
            <a:endParaRPr lang="en-US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376E126C-D7B7-A582-AF1B-F55DD50318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32893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372B0E44-1A06-7988-1CF2-9BD256F2B07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26572" y="184666"/>
            <a:ext cx="5543550" cy="564356"/>
          </a:xfrm>
        </p:spPr>
        <p:txBody>
          <a:bodyPr vert="horz" lIns="69056" tIns="34529" rIns="69056" bIns="34529" rtlCol="0" anchor="ctr">
            <a:normAutofit/>
          </a:bodyPr>
          <a:lstStyle/>
          <a:p>
            <a:pPr algn="l" defTabSz="914400" eaLnBrk="0" fontAlgn="base" hangingPunct="0">
              <a:spcAft>
                <a:spcPct val="0"/>
              </a:spcAft>
            </a:pPr>
            <a:r>
              <a:rPr lang="en-US" sz="3200" b="1" dirty="0"/>
              <a:t>Task &amp; Dataset</a:t>
            </a:r>
          </a:p>
        </p:txBody>
      </p:sp>
    </p:spTree>
    <p:extLst>
      <p:ext uri="{BB962C8B-B14F-4D97-AF65-F5344CB8AC3E}">
        <p14:creationId xmlns:p14="http://schemas.microsoft.com/office/powerpoint/2010/main" val="25488119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1719</TotalTime>
  <Words>1812</Words>
  <Application>Microsoft Office PowerPoint</Application>
  <PresentationFormat>On-screen Show (16:9)</PresentationFormat>
  <Paragraphs>231</Paragraphs>
  <Slides>30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8" baseType="lpstr">
      <vt:lpstr>Aptos</vt:lpstr>
      <vt:lpstr>Arial</vt:lpstr>
      <vt:lpstr>Calibri</vt:lpstr>
      <vt:lpstr>Cambria Math</vt:lpstr>
      <vt:lpstr>Courier New</vt:lpstr>
      <vt:lpstr>Times New Roman</vt:lpstr>
      <vt:lpstr>Wingdings</vt:lpstr>
      <vt:lpstr>Office Theme</vt:lpstr>
      <vt:lpstr>  SOK-3021 Økonomisk analyse av tidsserier </vt:lpstr>
      <vt:lpstr>       Course Description:</vt:lpstr>
      <vt:lpstr>       Course Curriculum: </vt:lpstr>
      <vt:lpstr>       Assessments: Assignment and Exam </vt:lpstr>
      <vt:lpstr>       Assessments: Assignment and Exam </vt:lpstr>
      <vt:lpstr>PowerPoint Presentation</vt:lpstr>
      <vt:lpstr>    Types of Data</vt:lpstr>
      <vt:lpstr>     Cross-sectional Data: </vt:lpstr>
      <vt:lpstr>     Time Series Data: </vt:lpstr>
      <vt:lpstr>      Pooled/Panel Data </vt:lpstr>
      <vt:lpstr>Time Series Analysis</vt:lpstr>
      <vt:lpstr>Features of Time Series Data</vt:lpstr>
      <vt:lpstr> Time Series Analysis</vt:lpstr>
      <vt:lpstr>Area of Applications of Time Series?</vt:lpstr>
      <vt:lpstr>Forecasting </vt:lpstr>
      <vt:lpstr>Graphical Analysis: Time Series  plot</vt:lpstr>
      <vt:lpstr>Graphical Analysis: Time Series  plot</vt:lpstr>
      <vt:lpstr>Components of a Time Series</vt:lpstr>
      <vt:lpstr>Components of a Time Series </vt:lpstr>
      <vt:lpstr>Components of a Time Series </vt:lpstr>
      <vt:lpstr>Components of a Time Series </vt:lpstr>
      <vt:lpstr>Components of a Time Series </vt:lpstr>
      <vt:lpstr>PowerPoint Presentation</vt:lpstr>
      <vt:lpstr>PowerPoint Presentation</vt:lpstr>
      <vt:lpstr>PowerPoint Presentation</vt:lpstr>
      <vt:lpstr>Some Time series Terms </vt:lpstr>
      <vt:lpstr>Some Time series Terms </vt:lpstr>
      <vt:lpstr>Approaching Time Series Analysis</vt:lpstr>
      <vt:lpstr>Task &amp; Dataset</vt:lpstr>
      <vt:lpstr>Task &amp; Dataset</vt:lpstr>
    </vt:vector>
  </TitlesOfParts>
  <LinksUpToDate>false</LinksUpToDate>
  <SharedDoc>false</SharedDoc>
  <HyperlinksChanged>false</HyperlinksChanged>
  <AppVersion>16.0000</AppVersion>
</Properties>
</file>

<file path=docProps/app0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Time Series Analysis</dc:title>
  <dc:creator>Dejene Gizaw Kidane</dc:creator>
  <cp:keywords/>
  <cp:lastModifiedBy>Dejene Gizaw Kidane</cp:lastModifiedBy>
  <cp:revision>39</cp:revision>
  <dcterms:created xsi:type="dcterms:W3CDTF">2026-01-02T11:56:15Z</dcterms:created>
  <dcterms:modified xsi:type="dcterms:W3CDTF">2026-01-07T08:37:53Z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biblio-config">
    <vt:lpwstr>True</vt:lpwstr>
  </property>
  <property fmtid="{D5CDD505-2E9C-101B-9397-08002B2CF9AE}" pid="3" name="editor">
    <vt:lpwstr>visual</vt:lpwstr>
  </property>
  <property fmtid="{D5CDD505-2E9C-101B-9397-08002B2CF9AE}" pid="4" name="header-includes">
    <vt:lpwstr/>
  </property>
  <property fmtid="{D5CDD505-2E9C-101B-9397-08002B2CF9AE}" pid="5" name="include-after">
    <vt:lpwstr/>
  </property>
  <property fmtid="{D5CDD505-2E9C-101B-9397-08002B2CF9AE}" pid="6" name="include-before">
    <vt:lpwstr/>
  </property>
  <property fmtid="{D5CDD505-2E9C-101B-9397-08002B2CF9AE}" pid="7" name="labels">
    <vt:lpwstr/>
  </property>
  <property fmtid="{D5CDD505-2E9C-101B-9397-08002B2CF9AE}" pid="8" name="toc-title">
    <vt:lpwstr>Table of contents</vt:lpwstr>
  </property>
</Properties>
</file>